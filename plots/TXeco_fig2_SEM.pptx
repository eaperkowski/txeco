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notesMasterIdLst>
    <p:notesMasterId r:id="rId11"/>
  </p:notesMasterIdLst>
  <p:sldIdLst>
    <p:sldId id="281" r:id="rId2"/>
    <p:sldId id="283" r:id="rId3"/>
    <p:sldId id="284" r:id="rId4"/>
    <p:sldId id="285" r:id="rId5"/>
    <p:sldId id="287" r:id="rId6"/>
    <p:sldId id="288" r:id="rId7"/>
    <p:sldId id="289" r:id="rId8"/>
    <p:sldId id="290" r:id="rId9"/>
    <p:sldId id="291" r:id="rId10"/>
  </p:sldIdLst>
  <p:sldSz cx="27432000" cy="1828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915"/>
    <p:restoredTop sz="97840"/>
  </p:normalViewPr>
  <p:slideViewPr>
    <p:cSldViewPr snapToGrid="0">
      <p:cViewPr>
        <p:scale>
          <a:sx n="81" d="100"/>
          <a:sy n="81" d="100"/>
        </p:scale>
        <p:origin x="3464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8338E3-F40D-F146-8D3B-4726E84D5200}" type="datetimeFigureOut">
              <a:rPr lang="en-US" smtClean="0"/>
              <a:t>7/10/26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800238-33D2-A44F-8135-A0F534DB8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775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666067" rtl="0" eaLnBrk="1" latinLnBrk="0" hangingPunct="1">
      <a:defRPr sz="2187" kern="1200">
        <a:solidFill>
          <a:schemeClr val="tx1"/>
        </a:solidFill>
        <a:latin typeface="+mn-lt"/>
        <a:ea typeface="+mn-ea"/>
        <a:cs typeface="+mn-cs"/>
      </a:defRPr>
    </a:lvl1pPr>
    <a:lvl2pPr marL="833035" algn="l" defTabSz="1666067" rtl="0" eaLnBrk="1" latinLnBrk="0" hangingPunct="1">
      <a:defRPr sz="2187" kern="1200">
        <a:solidFill>
          <a:schemeClr val="tx1"/>
        </a:solidFill>
        <a:latin typeface="+mn-lt"/>
        <a:ea typeface="+mn-ea"/>
        <a:cs typeface="+mn-cs"/>
      </a:defRPr>
    </a:lvl2pPr>
    <a:lvl3pPr marL="1666067" algn="l" defTabSz="1666067" rtl="0" eaLnBrk="1" latinLnBrk="0" hangingPunct="1">
      <a:defRPr sz="2187" kern="1200">
        <a:solidFill>
          <a:schemeClr val="tx1"/>
        </a:solidFill>
        <a:latin typeface="+mn-lt"/>
        <a:ea typeface="+mn-ea"/>
        <a:cs typeface="+mn-cs"/>
      </a:defRPr>
    </a:lvl3pPr>
    <a:lvl4pPr marL="2499100" algn="l" defTabSz="1666067" rtl="0" eaLnBrk="1" latinLnBrk="0" hangingPunct="1">
      <a:defRPr sz="2187" kern="1200">
        <a:solidFill>
          <a:schemeClr val="tx1"/>
        </a:solidFill>
        <a:latin typeface="+mn-lt"/>
        <a:ea typeface="+mn-ea"/>
        <a:cs typeface="+mn-cs"/>
      </a:defRPr>
    </a:lvl4pPr>
    <a:lvl5pPr marL="3332132" algn="l" defTabSz="1666067" rtl="0" eaLnBrk="1" latinLnBrk="0" hangingPunct="1">
      <a:defRPr sz="2187" kern="1200">
        <a:solidFill>
          <a:schemeClr val="tx1"/>
        </a:solidFill>
        <a:latin typeface="+mn-lt"/>
        <a:ea typeface="+mn-ea"/>
        <a:cs typeface="+mn-cs"/>
      </a:defRPr>
    </a:lvl5pPr>
    <a:lvl6pPr marL="4165165" algn="l" defTabSz="1666067" rtl="0" eaLnBrk="1" latinLnBrk="0" hangingPunct="1">
      <a:defRPr sz="2187" kern="1200">
        <a:solidFill>
          <a:schemeClr val="tx1"/>
        </a:solidFill>
        <a:latin typeface="+mn-lt"/>
        <a:ea typeface="+mn-ea"/>
        <a:cs typeface="+mn-cs"/>
      </a:defRPr>
    </a:lvl6pPr>
    <a:lvl7pPr marL="4998200" algn="l" defTabSz="1666067" rtl="0" eaLnBrk="1" latinLnBrk="0" hangingPunct="1">
      <a:defRPr sz="2187" kern="1200">
        <a:solidFill>
          <a:schemeClr val="tx1"/>
        </a:solidFill>
        <a:latin typeface="+mn-lt"/>
        <a:ea typeface="+mn-ea"/>
        <a:cs typeface="+mn-cs"/>
      </a:defRPr>
    </a:lvl7pPr>
    <a:lvl8pPr marL="5831229" algn="l" defTabSz="1666067" rtl="0" eaLnBrk="1" latinLnBrk="0" hangingPunct="1">
      <a:defRPr sz="2187" kern="1200">
        <a:solidFill>
          <a:schemeClr val="tx1"/>
        </a:solidFill>
        <a:latin typeface="+mn-lt"/>
        <a:ea typeface="+mn-ea"/>
        <a:cs typeface="+mn-cs"/>
      </a:defRPr>
    </a:lvl8pPr>
    <a:lvl9pPr marL="6664264" algn="l" defTabSz="1666067" rtl="0" eaLnBrk="1" latinLnBrk="0" hangingPunct="1">
      <a:defRPr sz="218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800238-33D2-A44F-8135-A0F534DB873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5797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800238-33D2-A44F-8135-A0F534DB873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6695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800238-33D2-A44F-8135-A0F534DB873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184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800238-33D2-A44F-8135-A0F534DB873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9242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800238-33D2-A44F-8135-A0F534DB873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2869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8829C-A3DA-02ED-AC6F-90C141BD3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FD7B2A-7022-898A-52BC-6970285F37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46A378-144F-D4D9-5BFF-22F5AE7664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C178DE-AD1C-E59B-5E28-F3D7FBD693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800238-33D2-A44F-8135-A0F534DB873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2464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EAA48-C019-8BE8-08DA-8AAE3E637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319069-DF84-997C-C31D-8FD9A30606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5FFC8E-2EE7-4367-7030-EF4D37C117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149A2C-3A4F-302F-D916-5EE3D4A372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800238-33D2-A44F-8135-A0F534DB873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2244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0" y="2992968"/>
            <a:ext cx="23317200" cy="6366933"/>
          </a:xfrm>
        </p:spPr>
        <p:txBody>
          <a:bodyPr anchor="b"/>
          <a:lstStyle>
            <a:lvl1pPr algn="ctr">
              <a:defRPr sz="1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29000" y="9605435"/>
            <a:ext cx="20574000" cy="4415365"/>
          </a:xfrm>
        </p:spPr>
        <p:txBody>
          <a:bodyPr/>
          <a:lstStyle>
            <a:lvl1pPr marL="0" indent="0" algn="ctr">
              <a:buNone/>
              <a:defRPr sz="6400"/>
            </a:lvl1pPr>
            <a:lvl2pPr marL="1219215" indent="0" algn="ctr">
              <a:buNone/>
              <a:defRPr sz="5333"/>
            </a:lvl2pPr>
            <a:lvl3pPr marL="2438430" indent="0" algn="ctr">
              <a:buNone/>
              <a:defRPr sz="4800"/>
            </a:lvl3pPr>
            <a:lvl4pPr marL="3657646" indent="0" algn="ctr">
              <a:buNone/>
              <a:defRPr sz="4267"/>
            </a:lvl4pPr>
            <a:lvl5pPr marL="4876861" indent="0" algn="ctr">
              <a:buNone/>
              <a:defRPr sz="4267"/>
            </a:lvl5pPr>
            <a:lvl6pPr marL="6096076" indent="0" algn="ctr">
              <a:buNone/>
              <a:defRPr sz="4267"/>
            </a:lvl6pPr>
            <a:lvl7pPr marL="7315291" indent="0" algn="ctr">
              <a:buNone/>
              <a:defRPr sz="4267"/>
            </a:lvl7pPr>
            <a:lvl8pPr marL="8534507" indent="0" algn="ctr">
              <a:buNone/>
              <a:defRPr sz="4267"/>
            </a:lvl8pPr>
            <a:lvl9pPr marL="9753722" indent="0" algn="ctr">
              <a:buNone/>
              <a:defRPr sz="426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8AA4-801E-B147-9E5C-6E6DBA6E23D1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ECE2C-DB48-6F4D-9A2B-19A3DF577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989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8AA4-801E-B147-9E5C-6E6DBA6E23D1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ECE2C-DB48-6F4D-9A2B-19A3DF577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3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1664" y="4559305"/>
            <a:ext cx="23660100" cy="7607299"/>
          </a:xfrm>
        </p:spPr>
        <p:txBody>
          <a:bodyPr anchor="b"/>
          <a:lstStyle>
            <a:lvl1pPr>
              <a:defRPr sz="1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1664" y="12238572"/>
            <a:ext cx="23660100" cy="4000499"/>
          </a:xfrm>
        </p:spPr>
        <p:txBody>
          <a:bodyPr/>
          <a:lstStyle>
            <a:lvl1pPr marL="0" indent="0">
              <a:buNone/>
              <a:defRPr sz="6400">
                <a:solidFill>
                  <a:schemeClr val="tx1"/>
                </a:solidFill>
              </a:defRPr>
            </a:lvl1pPr>
            <a:lvl2pPr marL="1219215" indent="0">
              <a:buNone/>
              <a:defRPr sz="5333">
                <a:solidFill>
                  <a:schemeClr val="tx1">
                    <a:tint val="75000"/>
                  </a:schemeClr>
                </a:solidFill>
              </a:defRPr>
            </a:lvl2pPr>
            <a:lvl3pPr marL="243843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3pPr>
            <a:lvl4pPr marL="3657646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4pPr>
            <a:lvl5pPr marL="4876861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5pPr>
            <a:lvl6pPr marL="6096076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6pPr>
            <a:lvl7pPr marL="7315291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7pPr>
            <a:lvl8pPr marL="8534507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8pPr>
            <a:lvl9pPr marL="9753722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8AA4-801E-B147-9E5C-6E6DBA6E23D1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ECE2C-DB48-6F4D-9A2B-19A3DF577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372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85950" y="4868333"/>
            <a:ext cx="116586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87450" y="4868333"/>
            <a:ext cx="116586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8AA4-801E-B147-9E5C-6E6DBA6E23D1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ECE2C-DB48-6F4D-9A2B-19A3DF577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005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3" y="973671"/>
            <a:ext cx="23660100" cy="35348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9526" y="4483101"/>
            <a:ext cx="11605020" cy="2197099"/>
          </a:xfrm>
        </p:spPr>
        <p:txBody>
          <a:bodyPr anchor="b"/>
          <a:lstStyle>
            <a:lvl1pPr marL="0" indent="0">
              <a:buNone/>
              <a:defRPr sz="6400" b="1"/>
            </a:lvl1pPr>
            <a:lvl2pPr marL="1219215" indent="0">
              <a:buNone/>
              <a:defRPr sz="5333" b="1"/>
            </a:lvl2pPr>
            <a:lvl3pPr marL="2438430" indent="0">
              <a:buNone/>
              <a:defRPr sz="4800" b="1"/>
            </a:lvl3pPr>
            <a:lvl4pPr marL="3657646" indent="0">
              <a:buNone/>
              <a:defRPr sz="4267" b="1"/>
            </a:lvl4pPr>
            <a:lvl5pPr marL="4876861" indent="0">
              <a:buNone/>
              <a:defRPr sz="4267" b="1"/>
            </a:lvl5pPr>
            <a:lvl6pPr marL="6096076" indent="0">
              <a:buNone/>
              <a:defRPr sz="4267" b="1"/>
            </a:lvl6pPr>
            <a:lvl7pPr marL="7315291" indent="0">
              <a:buNone/>
              <a:defRPr sz="4267" b="1"/>
            </a:lvl7pPr>
            <a:lvl8pPr marL="8534507" indent="0">
              <a:buNone/>
              <a:defRPr sz="4267" b="1"/>
            </a:lvl8pPr>
            <a:lvl9pPr marL="9753722" indent="0">
              <a:buNone/>
              <a:defRPr sz="42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89526" y="6680200"/>
            <a:ext cx="11605020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887452" y="4483101"/>
            <a:ext cx="11662173" cy="2197099"/>
          </a:xfrm>
        </p:spPr>
        <p:txBody>
          <a:bodyPr anchor="b"/>
          <a:lstStyle>
            <a:lvl1pPr marL="0" indent="0">
              <a:buNone/>
              <a:defRPr sz="6400" b="1"/>
            </a:lvl1pPr>
            <a:lvl2pPr marL="1219215" indent="0">
              <a:buNone/>
              <a:defRPr sz="5333" b="1"/>
            </a:lvl2pPr>
            <a:lvl3pPr marL="2438430" indent="0">
              <a:buNone/>
              <a:defRPr sz="4800" b="1"/>
            </a:lvl3pPr>
            <a:lvl4pPr marL="3657646" indent="0">
              <a:buNone/>
              <a:defRPr sz="4267" b="1"/>
            </a:lvl4pPr>
            <a:lvl5pPr marL="4876861" indent="0">
              <a:buNone/>
              <a:defRPr sz="4267" b="1"/>
            </a:lvl5pPr>
            <a:lvl6pPr marL="6096076" indent="0">
              <a:buNone/>
              <a:defRPr sz="4267" b="1"/>
            </a:lvl6pPr>
            <a:lvl7pPr marL="7315291" indent="0">
              <a:buNone/>
              <a:defRPr sz="4267" b="1"/>
            </a:lvl7pPr>
            <a:lvl8pPr marL="8534507" indent="0">
              <a:buNone/>
              <a:defRPr sz="4267" b="1"/>
            </a:lvl8pPr>
            <a:lvl9pPr marL="9753722" indent="0">
              <a:buNone/>
              <a:defRPr sz="42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887452" y="6680200"/>
            <a:ext cx="11662173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8AA4-801E-B147-9E5C-6E6DBA6E23D1}" type="datetimeFigureOut">
              <a:rPr lang="en-US" smtClean="0"/>
              <a:t>7/10/26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ECE2C-DB48-6F4D-9A2B-19A3DF577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57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8AA4-801E-B147-9E5C-6E6DBA6E23D1}" type="datetimeFigureOut">
              <a:rPr lang="en-US" smtClean="0"/>
              <a:t>7/10/26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ECE2C-DB48-6F4D-9A2B-19A3DF577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244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8AA4-801E-B147-9E5C-6E6DBA6E23D1}" type="datetimeFigureOut">
              <a:rPr lang="en-US" smtClean="0"/>
              <a:t>7/10/26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ECE2C-DB48-6F4D-9A2B-19A3DF577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510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3" y="1219200"/>
            <a:ext cx="8847534" cy="4267200"/>
          </a:xfrm>
        </p:spPr>
        <p:txBody>
          <a:bodyPr anchor="b"/>
          <a:lstStyle>
            <a:lvl1pPr>
              <a:defRPr sz="85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62173" y="2633138"/>
            <a:ext cx="13887450" cy="12996333"/>
          </a:xfrm>
        </p:spPr>
        <p:txBody>
          <a:bodyPr/>
          <a:lstStyle>
            <a:lvl1pPr>
              <a:defRPr sz="8533"/>
            </a:lvl1pPr>
            <a:lvl2pPr>
              <a:defRPr sz="7467"/>
            </a:lvl2pPr>
            <a:lvl3pPr>
              <a:defRPr sz="6400"/>
            </a:lvl3pPr>
            <a:lvl4pPr>
              <a:defRPr sz="5333"/>
            </a:lvl4pPr>
            <a:lvl5pPr>
              <a:defRPr sz="5333"/>
            </a:lvl5pPr>
            <a:lvl6pPr>
              <a:defRPr sz="5333"/>
            </a:lvl6pPr>
            <a:lvl7pPr>
              <a:defRPr sz="5333"/>
            </a:lvl7pPr>
            <a:lvl8pPr>
              <a:defRPr sz="5333"/>
            </a:lvl8pPr>
            <a:lvl9pPr>
              <a:defRPr sz="5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23" y="5486400"/>
            <a:ext cx="8847534" cy="10164235"/>
          </a:xfrm>
        </p:spPr>
        <p:txBody>
          <a:bodyPr/>
          <a:lstStyle>
            <a:lvl1pPr marL="0" indent="0">
              <a:buNone/>
              <a:defRPr sz="4267"/>
            </a:lvl1pPr>
            <a:lvl2pPr marL="1219215" indent="0">
              <a:buNone/>
              <a:defRPr sz="3733"/>
            </a:lvl2pPr>
            <a:lvl3pPr marL="2438430" indent="0">
              <a:buNone/>
              <a:defRPr sz="3200"/>
            </a:lvl3pPr>
            <a:lvl4pPr marL="3657646" indent="0">
              <a:buNone/>
              <a:defRPr sz="2667"/>
            </a:lvl4pPr>
            <a:lvl5pPr marL="4876861" indent="0">
              <a:buNone/>
              <a:defRPr sz="2667"/>
            </a:lvl5pPr>
            <a:lvl6pPr marL="6096076" indent="0">
              <a:buNone/>
              <a:defRPr sz="2667"/>
            </a:lvl6pPr>
            <a:lvl7pPr marL="7315291" indent="0">
              <a:buNone/>
              <a:defRPr sz="2667"/>
            </a:lvl7pPr>
            <a:lvl8pPr marL="8534507" indent="0">
              <a:buNone/>
              <a:defRPr sz="2667"/>
            </a:lvl8pPr>
            <a:lvl9pPr marL="9753722" indent="0">
              <a:buNone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8AA4-801E-B147-9E5C-6E6DBA6E23D1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ECE2C-DB48-6F4D-9A2B-19A3DF577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864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3" y="1219200"/>
            <a:ext cx="8847534" cy="4267200"/>
          </a:xfrm>
        </p:spPr>
        <p:txBody>
          <a:bodyPr anchor="b"/>
          <a:lstStyle>
            <a:lvl1pPr>
              <a:defRPr sz="85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62173" y="2633138"/>
            <a:ext cx="13887450" cy="12996333"/>
          </a:xfrm>
        </p:spPr>
        <p:txBody>
          <a:bodyPr anchor="t"/>
          <a:lstStyle>
            <a:lvl1pPr marL="0" indent="0">
              <a:buNone/>
              <a:defRPr sz="8533"/>
            </a:lvl1pPr>
            <a:lvl2pPr marL="1219215" indent="0">
              <a:buNone/>
              <a:defRPr sz="7467"/>
            </a:lvl2pPr>
            <a:lvl3pPr marL="2438430" indent="0">
              <a:buNone/>
              <a:defRPr sz="6400"/>
            </a:lvl3pPr>
            <a:lvl4pPr marL="3657646" indent="0">
              <a:buNone/>
              <a:defRPr sz="5333"/>
            </a:lvl4pPr>
            <a:lvl5pPr marL="4876861" indent="0">
              <a:buNone/>
              <a:defRPr sz="5333"/>
            </a:lvl5pPr>
            <a:lvl6pPr marL="6096076" indent="0">
              <a:buNone/>
              <a:defRPr sz="5333"/>
            </a:lvl6pPr>
            <a:lvl7pPr marL="7315291" indent="0">
              <a:buNone/>
              <a:defRPr sz="5333"/>
            </a:lvl7pPr>
            <a:lvl8pPr marL="8534507" indent="0">
              <a:buNone/>
              <a:defRPr sz="5333"/>
            </a:lvl8pPr>
            <a:lvl9pPr marL="9753722" indent="0">
              <a:buNone/>
              <a:defRPr sz="53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23" y="5486400"/>
            <a:ext cx="8847534" cy="10164235"/>
          </a:xfrm>
        </p:spPr>
        <p:txBody>
          <a:bodyPr/>
          <a:lstStyle>
            <a:lvl1pPr marL="0" indent="0">
              <a:buNone/>
              <a:defRPr sz="4267"/>
            </a:lvl1pPr>
            <a:lvl2pPr marL="1219215" indent="0">
              <a:buNone/>
              <a:defRPr sz="3733"/>
            </a:lvl2pPr>
            <a:lvl3pPr marL="2438430" indent="0">
              <a:buNone/>
              <a:defRPr sz="3200"/>
            </a:lvl3pPr>
            <a:lvl4pPr marL="3657646" indent="0">
              <a:buNone/>
              <a:defRPr sz="2667"/>
            </a:lvl4pPr>
            <a:lvl5pPr marL="4876861" indent="0">
              <a:buNone/>
              <a:defRPr sz="2667"/>
            </a:lvl5pPr>
            <a:lvl6pPr marL="6096076" indent="0">
              <a:buNone/>
              <a:defRPr sz="2667"/>
            </a:lvl6pPr>
            <a:lvl7pPr marL="7315291" indent="0">
              <a:buNone/>
              <a:defRPr sz="2667"/>
            </a:lvl7pPr>
            <a:lvl8pPr marL="8534507" indent="0">
              <a:buNone/>
              <a:defRPr sz="2667"/>
            </a:lvl8pPr>
            <a:lvl9pPr marL="9753722" indent="0">
              <a:buNone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8AA4-801E-B147-9E5C-6E6DBA6E23D1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ECE2C-DB48-6F4D-9A2B-19A3DF577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415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8AA4-801E-B147-9E5C-6E6DBA6E23D1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ECE2C-DB48-6F4D-9A2B-19A3DF577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08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9631027" y="973667"/>
            <a:ext cx="5915025" cy="154982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85952" y="973667"/>
            <a:ext cx="17402175" cy="154982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8AA4-801E-B147-9E5C-6E6DBA6E23D1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ECE2C-DB48-6F4D-9A2B-19A3DF577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728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85950" y="973671"/>
            <a:ext cx="23660100" cy="3534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5950" y="4868333"/>
            <a:ext cx="23660100" cy="11603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85950" y="16950271"/>
            <a:ext cx="61722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A28AA4-801E-B147-9E5C-6E6DBA6E23D1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086850" y="16950271"/>
            <a:ext cx="92583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373850" y="16950271"/>
            <a:ext cx="61722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DECE2C-DB48-6F4D-9A2B-19A3DF577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300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2438430" rtl="0" eaLnBrk="1" latinLnBrk="0" hangingPunct="1">
        <a:lnSpc>
          <a:spcPct val="90000"/>
        </a:lnSpc>
        <a:spcBef>
          <a:spcPct val="0"/>
        </a:spcBef>
        <a:buNone/>
        <a:defRPr sz="117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9608" indent="-609608" algn="l" defTabSz="2438430" rtl="0" eaLnBrk="1" latinLnBrk="0" hangingPunct="1">
        <a:lnSpc>
          <a:spcPct val="90000"/>
        </a:lnSpc>
        <a:spcBef>
          <a:spcPts val="2667"/>
        </a:spcBef>
        <a:buFont typeface="Arial" panose="020B0604020202020204" pitchFamily="34" charset="0"/>
        <a:buChar char="•"/>
        <a:defRPr sz="7467" kern="1200">
          <a:solidFill>
            <a:schemeClr val="tx1"/>
          </a:solidFill>
          <a:latin typeface="+mn-lt"/>
          <a:ea typeface="+mn-ea"/>
          <a:cs typeface="+mn-cs"/>
        </a:defRPr>
      </a:lvl1pPr>
      <a:lvl2pPr marL="1828823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2pPr>
      <a:lvl3pPr marL="3048038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5333" kern="1200">
          <a:solidFill>
            <a:schemeClr val="tx1"/>
          </a:solidFill>
          <a:latin typeface="+mn-lt"/>
          <a:ea typeface="+mn-ea"/>
          <a:cs typeface="+mn-cs"/>
        </a:defRPr>
      </a:lvl3pPr>
      <a:lvl4pPr marL="4267253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69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6705684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6pPr>
      <a:lvl7pPr marL="7924899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7pPr>
      <a:lvl8pPr marL="9144114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8pPr>
      <a:lvl9pPr marL="10363330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219215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438430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657646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4876861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6096076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6pPr>
      <a:lvl7pPr marL="7315291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7pPr>
      <a:lvl8pPr marL="8534507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8pPr>
      <a:lvl9pPr marL="9753722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58B87546-24F4-5441-6445-BA838E9A9C9D}"/>
              </a:ext>
            </a:extLst>
          </p:cNvPr>
          <p:cNvGrpSpPr/>
          <p:nvPr/>
        </p:nvGrpSpPr>
        <p:grpSpPr>
          <a:xfrm>
            <a:off x="10421624" y="12978547"/>
            <a:ext cx="7208824" cy="1604907"/>
            <a:chOff x="9836749" y="13266385"/>
            <a:chExt cx="7208824" cy="1604907"/>
          </a:xfrm>
        </p:grpSpPr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BCE3271A-5208-23E5-DCE3-3408CD77B59D}"/>
                </a:ext>
              </a:extLst>
            </p:cNvPr>
            <p:cNvCxnSpPr>
              <a:cxnSpLocks/>
            </p:cNvCxnSpPr>
            <p:nvPr/>
          </p:nvCxnSpPr>
          <p:spPr>
            <a:xfrm>
              <a:off x="11510490" y="13425953"/>
              <a:ext cx="951115" cy="0"/>
            </a:xfrm>
            <a:prstGeom prst="line">
              <a:avLst/>
            </a:prstGeom>
            <a:ln w="952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EA94A156-E109-774D-5FDF-8043EC42050A}"/>
                </a:ext>
              </a:extLst>
            </p:cNvPr>
            <p:cNvCxnSpPr>
              <a:cxnSpLocks/>
            </p:cNvCxnSpPr>
            <p:nvPr/>
          </p:nvCxnSpPr>
          <p:spPr>
            <a:xfrm>
              <a:off x="10577418" y="13446974"/>
              <a:ext cx="951115" cy="0"/>
            </a:xfrm>
            <a:prstGeom prst="line">
              <a:avLst/>
            </a:prstGeom>
            <a:ln w="476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01368AB0-6FEC-4E40-EF20-C123FBCFFF29}"/>
                </a:ext>
              </a:extLst>
            </p:cNvPr>
            <p:cNvCxnSpPr>
              <a:cxnSpLocks/>
            </p:cNvCxnSpPr>
            <p:nvPr/>
          </p:nvCxnSpPr>
          <p:spPr>
            <a:xfrm>
              <a:off x="14349853" y="13429128"/>
              <a:ext cx="951115" cy="0"/>
            </a:xfrm>
            <a:prstGeom prst="line">
              <a:avLst/>
            </a:prstGeom>
            <a:ln w="9525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5459AFEF-BF27-F9DA-C489-E82435FED1A2}"/>
                </a:ext>
              </a:extLst>
            </p:cNvPr>
            <p:cNvCxnSpPr>
              <a:cxnSpLocks/>
            </p:cNvCxnSpPr>
            <p:nvPr/>
          </p:nvCxnSpPr>
          <p:spPr>
            <a:xfrm>
              <a:off x="15297410" y="13451128"/>
              <a:ext cx="951115" cy="0"/>
            </a:xfrm>
            <a:prstGeom prst="line">
              <a:avLst/>
            </a:prstGeom>
            <a:ln w="4762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1" name="TextBox 310">
              <a:extLst>
                <a:ext uri="{FF2B5EF4-FFF2-40B4-BE49-F238E27FC236}">
                  <a16:creationId xmlns:a16="http://schemas.microsoft.com/office/drawing/2014/main" id="{405F3348-AF82-CF3A-4B6F-13F81E3AE869}"/>
                </a:ext>
              </a:extLst>
            </p:cNvPr>
            <p:cNvSpPr txBox="1"/>
            <p:nvPr/>
          </p:nvSpPr>
          <p:spPr>
            <a:xfrm>
              <a:off x="12533923" y="13433721"/>
              <a:ext cx="790601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-0.9</a:t>
              </a:r>
            </a:p>
          </p:txBody>
        </p:sp>
        <p:sp>
          <p:nvSpPr>
            <p:cNvPr id="312" name="TextBox 311">
              <a:extLst>
                <a:ext uri="{FF2B5EF4-FFF2-40B4-BE49-F238E27FC236}">
                  <a16:creationId xmlns:a16="http://schemas.microsoft.com/office/drawing/2014/main" id="{03905A61-A4AE-A9C3-7600-29CDFA24E9CE}"/>
                </a:ext>
              </a:extLst>
            </p:cNvPr>
            <p:cNvSpPr txBox="1"/>
            <p:nvPr/>
          </p:nvSpPr>
          <p:spPr>
            <a:xfrm>
              <a:off x="13540373" y="13440763"/>
              <a:ext cx="665567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0.9</a:t>
              </a:r>
            </a:p>
          </p:txBody>
        </p:sp>
        <p:sp>
          <p:nvSpPr>
            <p:cNvPr id="313" name="TextBox 312">
              <a:extLst>
                <a:ext uri="{FF2B5EF4-FFF2-40B4-BE49-F238E27FC236}">
                  <a16:creationId xmlns:a16="http://schemas.microsoft.com/office/drawing/2014/main" id="{A5185E2D-DB4F-1D37-75C3-0550DED89ED4}"/>
                </a:ext>
              </a:extLst>
            </p:cNvPr>
            <p:cNvSpPr txBox="1"/>
            <p:nvPr/>
          </p:nvSpPr>
          <p:spPr>
            <a:xfrm>
              <a:off x="11590746" y="13440763"/>
              <a:ext cx="793807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-0.6</a:t>
              </a:r>
            </a:p>
          </p:txBody>
        </p:sp>
        <p:sp>
          <p:nvSpPr>
            <p:cNvPr id="314" name="TextBox 313">
              <a:extLst>
                <a:ext uri="{FF2B5EF4-FFF2-40B4-BE49-F238E27FC236}">
                  <a16:creationId xmlns:a16="http://schemas.microsoft.com/office/drawing/2014/main" id="{336C6BA1-652E-4332-3874-0C406AC32821}"/>
                </a:ext>
              </a:extLst>
            </p:cNvPr>
            <p:cNvSpPr txBox="1"/>
            <p:nvPr/>
          </p:nvSpPr>
          <p:spPr>
            <a:xfrm>
              <a:off x="14483550" y="13444216"/>
              <a:ext cx="665567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0.6</a:t>
              </a:r>
            </a:p>
          </p:txBody>
        </p:sp>
        <p:sp>
          <p:nvSpPr>
            <p:cNvPr id="315" name="TextBox 314">
              <a:extLst>
                <a:ext uri="{FF2B5EF4-FFF2-40B4-BE49-F238E27FC236}">
                  <a16:creationId xmlns:a16="http://schemas.microsoft.com/office/drawing/2014/main" id="{0A735BE5-8F12-20AC-B7DA-99178782D0A5}"/>
                </a:ext>
              </a:extLst>
            </p:cNvPr>
            <p:cNvSpPr txBox="1"/>
            <p:nvPr/>
          </p:nvSpPr>
          <p:spPr>
            <a:xfrm>
              <a:off x="15439734" y="13426392"/>
              <a:ext cx="665567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0.3</a:t>
              </a:r>
            </a:p>
          </p:txBody>
        </p:sp>
        <p:sp>
          <p:nvSpPr>
            <p:cNvPr id="317" name="TextBox 316">
              <a:extLst>
                <a:ext uri="{FF2B5EF4-FFF2-40B4-BE49-F238E27FC236}">
                  <a16:creationId xmlns:a16="http://schemas.microsoft.com/office/drawing/2014/main" id="{E5B0E893-4292-A9DA-E31F-4F434D6BA189}"/>
                </a:ext>
              </a:extLst>
            </p:cNvPr>
            <p:cNvSpPr txBox="1"/>
            <p:nvPr/>
          </p:nvSpPr>
          <p:spPr>
            <a:xfrm>
              <a:off x="10693986" y="13445817"/>
              <a:ext cx="793807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-0.3</a:t>
              </a:r>
            </a:p>
          </p:txBody>
        </p:sp>
        <p:sp>
          <p:nvSpPr>
            <p:cNvPr id="318" name="TextBox 317">
              <a:extLst>
                <a:ext uri="{FF2B5EF4-FFF2-40B4-BE49-F238E27FC236}">
                  <a16:creationId xmlns:a16="http://schemas.microsoft.com/office/drawing/2014/main" id="{381CB219-7134-E7DD-E806-9373BDC6B8E3}"/>
                </a:ext>
              </a:extLst>
            </p:cNvPr>
            <p:cNvSpPr txBox="1"/>
            <p:nvPr/>
          </p:nvSpPr>
          <p:spPr>
            <a:xfrm>
              <a:off x="11262239" y="14317294"/>
              <a:ext cx="4278735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Standardized Coefficient</a:t>
              </a:r>
            </a:p>
          </p:txBody>
        </p:sp>
        <p:cxnSp>
          <p:nvCxnSpPr>
            <p:cNvPr id="306" name="Straight Connector 305">
              <a:extLst>
                <a:ext uri="{FF2B5EF4-FFF2-40B4-BE49-F238E27FC236}">
                  <a16:creationId xmlns:a16="http://schemas.microsoft.com/office/drawing/2014/main" id="{D1A9DA54-E777-BA6D-9268-2E5E984EB1E2}"/>
                </a:ext>
              </a:extLst>
            </p:cNvPr>
            <p:cNvCxnSpPr>
              <a:cxnSpLocks/>
            </p:cNvCxnSpPr>
            <p:nvPr/>
          </p:nvCxnSpPr>
          <p:spPr>
            <a:xfrm>
              <a:off x="12453667" y="13380736"/>
              <a:ext cx="951115" cy="0"/>
            </a:xfrm>
            <a:prstGeom prst="line">
              <a:avLst/>
            </a:prstGeom>
            <a:ln w="1905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58FCCEEE-319F-0DEB-6973-1CFE1856B2B0}"/>
                </a:ext>
              </a:extLst>
            </p:cNvPr>
            <p:cNvCxnSpPr>
              <a:cxnSpLocks/>
            </p:cNvCxnSpPr>
            <p:nvPr/>
          </p:nvCxnSpPr>
          <p:spPr>
            <a:xfrm>
              <a:off x="13401607" y="13379744"/>
              <a:ext cx="951115" cy="0"/>
            </a:xfrm>
            <a:prstGeom prst="line">
              <a:avLst/>
            </a:prstGeom>
            <a:ln w="1905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0505CCCA-23EC-02F8-8E02-93D20241DF45}"/>
                </a:ext>
              </a:extLst>
            </p:cNvPr>
            <p:cNvSpPr/>
            <p:nvPr/>
          </p:nvSpPr>
          <p:spPr>
            <a:xfrm>
              <a:off x="10539776" y="13475193"/>
              <a:ext cx="5751830" cy="568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2C00127-0A1A-2C99-C54F-607878A28FA7}"/>
                </a:ext>
              </a:extLst>
            </p:cNvPr>
            <p:cNvSpPr/>
            <p:nvPr/>
          </p:nvSpPr>
          <p:spPr>
            <a:xfrm>
              <a:off x="9836749" y="13470593"/>
              <a:ext cx="7010400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EA1F572-8465-B16E-D0EB-AE36EA9F14C4}"/>
                </a:ext>
              </a:extLst>
            </p:cNvPr>
            <p:cNvSpPr/>
            <p:nvPr/>
          </p:nvSpPr>
          <p:spPr>
            <a:xfrm>
              <a:off x="10035173" y="13266385"/>
              <a:ext cx="7010400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2" name="Elbow Connector 61">
            <a:extLst>
              <a:ext uri="{FF2B5EF4-FFF2-40B4-BE49-F238E27FC236}">
                <a16:creationId xmlns:a16="http://schemas.microsoft.com/office/drawing/2014/main" id="{A7BB5DB8-0A9B-553C-20D2-42DF89257B81}"/>
              </a:ext>
            </a:extLst>
          </p:cNvPr>
          <p:cNvCxnSpPr>
            <a:cxnSpLocks/>
            <a:stCxn id="145" idx="0"/>
            <a:endCxn id="143" idx="3"/>
          </p:cNvCxnSpPr>
          <p:nvPr/>
        </p:nvCxnSpPr>
        <p:spPr>
          <a:xfrm rot="16200000" flipV="1">
            <a:off x="14395613" y="2940531"/>
            <a:ext cx="1601964" cy="914870"/>
          </a:xfrm>
          <a:prstGeom prst="bentConnector2">
            <a:avLst/>
          </a:prstGeom>
          <a:ln w="187198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E3BAA43E-5ED9-1F26-793A-0AB45C17B4EC}"/>
              </a:ext>
            </a:extLst>
          </p:cNvPr>
          <p:cNvCxnSpPr>
            <a:cxnSpLocks/>
            <a:stCxn id="146" idx="0"/>
            <a:endCxn id="143" idx="1"/>
          </p:cNvCxnSpPr>
          <p:nvPr/>
        </p:nvCxnSpPr>
        <p:spPr>
          <a:xfrm rot="5400000" flipH="1" flipV="1">
            <a:off x="11663930" y="2943117"/>
            <a:ext cx="1601964" cy="909699"/>
          </a:xfrm>
          <a:prstGeom prst="bentConnector2">
            <a:avLst/>
          </a:prstGeom>
          <a:ln w="164719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Elbow Connector 132">
            <a:extLst>
              <a:ext uri="{FF2B5EF4-FFF2-40B4-BE49-F238E27FC236}">
                <a16:creationId xmlns:a16="http://schemas.microsoft.com/office/drawing/2014/main" id="{BC7E0E1B-E707-545B-AD96-7F3DEF805EF3}"/>
              </a:ext>
            </a:extLst>
          </p:cNvPr>
          <p:cNvCxnSpPr>
            <a:cxnSpLocks/>
            <a:stCxn id="149" idx="0"/>
            <a:endCxn id="146" idx="3"/>
          </p:cNvCxnSpPr>
          <p:nvPr/>
        </p:nvCxnSpPr>
        <p:spPr>
          <a:xfrm rot="16200000" flipV="1">
            <a:off x="12573630" y="4983692"/>
            <a:ext cx="1601964" cy="909699"/>
          </a:xfrm>
          <a:prstGeom prst="bentConnector2">
            <a:avLst/>
          </a:prstGeom>
          <a:ln w="63119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Elbow Connector 134">
            <a:extLst>
              <a:ext uri="{FF2B5EF4-FFF2-40B4-BE49-F238E27FC236}">
                <a16:creationId xmlns:a16="http://schemas.microsoft.com/office/drawing/2014/main" id="{F1F907C0-D3B3-F301-727B-CF49C37CEC1B}"/>
              </a:ext>
            </a:extLst>
          </p:cNvPr>
          <p:cNvCxnSpPr>
            <a:cxnSpLocks/>
            <a:stCxn id="144" idx="1"/>
            <a:endCxn id="146" idx="1"/>
          </p:cNvCxnSpPr>
          <p:nvPr/>
        </p:nvCxnSpPr>
        <p:spPr>
          <a:xfrm rot="10800000" flipH="1">
            <a:off x="9275794" y="4637561"/>
            <a:ext cx="1824569" cy="6123609"/>
          </a:xfrm>
          <a:prstGeom prst="bentConnector3">
            <a:avLst>
              <a:gd name="adj1" fmla="val -19258"/>
            </a:avLst>
          </a:prstGeom>
          <a:ln w="54483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Elbow Connector 137">
            <a:extLst>
              <a:ext uri="{FF2B5EF4-FFF2-40B4-BE49-F238E27FC236}">
                <a16:creationId xmlns:a16="http://schemas.microsoft.com/office/drawing/2014/main" id="{EEC40A92-5103-2F0C-4D27-2095B2532115}"/>
              </a:ext>
            </a:extLst>
          </p:cNvPr>
          <p:cNvCxnSpPr>
            <a:cxnSpLocks/>
            <a:stCxn id="147" idx="0"/>
            <a:endCxn id="146" idx="2"/>
          </p:cNvCxnSpPr>
          <p:nvPr/>
        </p:nvCxnSpPr>
        <p:spPr>
          <a:xfrm rot="16200000" flipV="1">
            <a:off x="14160070" y="2926164"/>
            <a:ext cx="1163352" cy="5463365"/>
          </a:xfrm>
          <a:prstGeom prst="bentConnector3">
            <a:avLst/>
          </a:prstGeom>
          <a:ln w="825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0C8359E6-CA2C-9FBA-3644-516B5F4ED4A8}"/>
              </a:ext>
            </a:extLst>
          </p:cNvPr>
          <p:cNvCxnSpPr>
            <a:cxnSpLocks/>
          </p:cNvCxnSpPr>
          <p:nvPr/>
        </p:nvCxnSpPr>
        <p:spPr>
          <a:xfrm>
            <a:off x="12933847" y="4329575"/>
            <a:ext cx="1805313" cy="0"/>
          </a:xfrm>
          <a:prstGeom prst="straightConnector1">
            <a:avLst/>
          </a:prstGeom>
          <a:ln w="69342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Elbow Connector 161">
            <a:extLst>
              <a:ext uri="{FF2B5EF4-FFF2-40B4-BE49-F238E27FC236}">
                <a16:creationId xmlns:a16="http://schemas.microsoft.com/office/drawing/2014/main" id="{0ABC5512-2B24-9A3B-FABA-9F8C147FC0A9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2258827" y="6357436"/>
            <a:ext cx="5244507" cy="2681977"/>
          </a:xfrm>
          <a:prstGeom prst="bentConnector3">
            <a:avLst>
              <a:gd name="adj1" fmla="val 45018"/>
            </a:avLst>
          </a:prstGeom>
          <a:ln w="30734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lbow Connector 163">
            <a:extLst>
              <a:ext uri="{FF2B5EF4-FFF2-40B4-BE49-F238E27FC236}">
                <a16:creationId xmlns:a16="http://schemas.microsoft.com/office/drawing/2014/main" id="{A8C1E8B5-1696-4F88-7D56-798AB1F2072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1609415" y="2484968"/>
            <a:ext cx="2040575" cy="5468536"/>
          </a:xfrm>
          <a:prstGeom prst="bentConnector3">
            <a:avLst>
              <a:gd name="adj1" fmla="val 117726"/>
            </a:avLst>
          </a:prstGeom>
          <a:ln w="5651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Elbow Connector 166">
            <a:extLst>
              <a:ext uri="{FF2B5EF4-FFF2-40B4-BE49-F238E27FC236}">
                <a16:creationId xmlns:a16="http://schemas.microsoft.com/office/drawing/2014/main" id="{A062D9D7-6C70-83FE-B070-67BC9A1C6EF6}"/>
              </a:ext>
            </a:extLst>
          </p:cNvPr>
          <p:cNvCxnSpPr>
            <a:cxnSpLocks/>
            <a:endCxn id="145" idx="3"/>
          </p:cNvCxnSpPr>
          <p:nvPr/>
        </p:nvCxnSpPr>
        <p:spPr>
          <a:xfrm rot="16200000" flipV="1">
            <a:off x="16526912" y="4674378"/>
            <a:ext cx="1601963" cy="1528328"/>
          </a:xfrm>
          <a:prstGeom prst="bentConnector2">
            <a:avLst/>
          </a:prstGeom>
          <a:ln w="84582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Elbow Connector 170">
            <a:extLst>
              <a:ext uri="{FF2B5EF4-FFF2-40B4-BE49-F238E27FC236}">
                <a16:creationId xmlns:a16="http://schemas.microsoft.com/office/drawing/2014/main" id="{2FBEBCC0-3D59-9D06-78B4-76834AB8AE22}"/>
              </a:ext>
            </a:extLst>
          </p:cNvPr>
          <p:cNvCxnSpPr>
            <a:stCxn id="148" idx="0"/>
            <a:endCxn id="149" idx="1"/>
          </p:cNvCxnSpPr>
          <p:nvPr/>
        </p:nvCxnSpPr>
        <p:spPr>
          <a:xfrm rot="5400000" flipH="1" flipV="1">
            <a:off x="11670676" y="7012353"/>
            <a:ext cx="1583303" cy="914870"/>
          </a:xfrm>
          <a:prstGeom prst="bentConnector2">
            <a:avLst/>
          </a:prstGeom>
          <a:ln w="666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lbow Connector 172">
            <a:extLst>
              <a:ext uri="{FF2B5EF4-FFF2-40B4-BE49-F238E27FC236}">
                <a16:creationId xmlns:a16="http://schemas.microsoft.com/office/drawing/2014/main" id="{147027FA-0440-7A69-9ED5-046F76D1D380}"/>
              </a:ext>
            </a:extLst>
          </p:cNvPr>
          <p:cNvCxnSpPr>
            <a:cxnSpLocks/>
          </p:cNvCxnSpPr>
          <p:nvPr/>
        </p:nvCxnSpPr>
        <p:spPr>
          <a:xfrm rot="16200000" flipV="1">
            <a:off x="14404944" y="7337069"/>
            <a:ext cx="1583302" cy="914870"/>
          </a:xfrm>
          <a:prstGeom prst="bentConnector2">
            <a:avLst/>
          </a:prstGeom>
          <a:ln w="1968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0FFCF4FC-4089-E6A9-52E3-2639554AC674}"/>
              </a:ext>
            </a:extLst>
          </p:cNvPr>
          <p:cNvCxnSpPr>
            <a:stCxn id="147" idx="1"/>
            <a:endCxn id="149" idx="3"/>
          </p:cNvCxnSpPr>
          <p:nvPr/>
        </p:nvCxnSpPr>
        <p:spPr>
          <a:xfrm flipH="1">
            <a:off x="14739160" y="6678135"/>
            <a:ext cx="1824569" cy="1"/>
          </a:xfrm>
          <a:prstGeom prst="straightConnector1">
            <a:avLst/>
          </a:prstGeom>
          <a:ln w="156591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Elbow Connector 176">
            <a:extLst>
              <a:ext uri="{FF2B5EF4-FFF2-40B4-BE49-F238E27FC236}">
                <a16:creationId xmlns:a16="http://schemas.microsoft.com/office/drawing/2014/main" id="{EDA80211-6BAE-FA72-CF0A-FA7AB647408B}"/>
              </a:ext>
            </a:extLst>
          </p:cNvPr>
          <p:cNvCxnSpPr>
            <a:stCxn id="144" idx="0"/>
            <a:endCxn id="148" idx="1"/>
          </p:cNvCxnSpPr>
          <p:nvPr/>
        </p:nvCxnSpPr>
        <p:spPr>
          <a:xfrm rot="5400000" flipH="1" flipV="1">
            <a:off x="9829090" y="9056455"/>
            <a:ext cx="1622506" cy="909699"/>
          </a:xfrm>
          <a:prstGeom prst="bentConnector2">
            <a:avLst/>
          </a:prstGeom>
          <a:ln w="1778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Elbow Connector 187">
            <a:extLst>
              <a:ext uri="{FF2B5EF4-FFF2-40B4-BE49-F238E27FC236}">
                <a16:creationId xmlns:a16="http://schemas.microsoft.com/office/drawing/2014/main" id="{D869BB87-CF5B-E7AC-E0C2-E419F8B7544F}"/>
              </a:ext>
            </a:extLst>
          </p:cNvPr>
          <p:cNvCxnSpPr>
            <a:cxnSpLocks/>
          </p:cNvCxnSpPr>
          <p:nvPr/>
        </p:nvCxnSpPr>
        <p:spPr>
          <a:xfrm rot="5400000">
            <a:off x="14560356" y="4954824"/>
            <a:ext cx="1144693" cy="5468536"/>
          </a:xfrm>
          <a:prstGeom prst="bentConnector3">
            <a:avLst>
              <a:gd name="adj1" fmla="val 28765"/>
            </a:avLst>
          </a:prstGeom>
          <a:ln w="17272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Elbow Connector 262">
            <a:extLst>
              <a:ext uri="{FF2B5EF4-FFF2-40B4-BE49-F238E27FC236}">
                <a16:creationId xmlns:a16="http://schemas.microsoft.com/office/drawing/2014/main" id="{642A1D22-4269-4A47-C351-10CB642733BB}"/>
              </a:ext>
            </a:extLst>
          </p:cNvPr>
          <p:cNvCxnSpPr>
            <a:stCxn id="150" idx="2"/>
            <a:endCxn id="144" idx="2"/>
          </p:cNvCxnSpPr>
          <p:nvPr/>
        </p:nvCxnSpPr>
        <p:spPr>
          <a:xfrm rot="5400000" flipH="1">
            <a:off x="13825777" y="7559497"/>
            <a:ext cx="7368" cy="7287934"/>
          </a:xfrm>
          <a:prstGeom prst="bentConnector3">
            <a:avLst>
              <a:gd name="adj1" fmla="val -9543458"/>
            </a:avLst>
          </a:prstGeom>
          <a:ln w="33274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Elbow Connector 265">
            <a:extLst>
              <a:ext uri="{FF2B5EF4-FFF2-40B4-BE49-F238E27FC236}">
                <a16:creationId xmlns:a16="http://schemas.microsoft.com/office/drawing/2014/main" id="{09A375C4-7773-DD62-3DE7-CF801A081DCB}"/>
              </a:ext>
            </a:extLst>
          </p:cNvPr>
          <p:cNvCxnSpPr>
            <a:cxnSpLocks/>
          </p:cNvCxnSpPr>
          <p:nvPr/>
        </p:nvCxnSpPr>
        <p:spPr>
          <a:xfrm rot="5400000">
            <a:off x="12492675" y="9376856"/>
            <a:ext cx="1881" cy="3643967"/>
          </a:xfrm>
          <a:prstGeom prst="bentConnector3">
            <a:avLst>
              <a:gd name="adj1" fmla="val 17791228"/>
            </a:avLst>
          </a:prstGeom>
          <a:ln w="22098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Elbow Connector 270">
            <a:extLst>
              <a:ext uri="{FF2B5EF4-FFF2-40B4-BE49-F238E27FC236}">
                <a16:creationId xmlns:a16="http://schemas.microsoft.com/office/drawing/2014/main" id="{C0078929-EB49-4672-60DB-97B91A3BDEA8}"/>
              </a:ext>
            </a:extLst>
          </p:cNvPr>
          <p:cNvCxnSpPr>
            <a:cxnSpLocks/>
            <a:stCxn id="151" idx="3"/>
          </p:cNvCxnSpPr>
          <p:nvPr/>
        </p:nvCxnSpPr>
        <p:spPr>
          <a:xfrm>
            <a:off x="16563729" y="8700050"/>
            <a:ext cx="1303242" cy="1620626"/>
          </a:xfrm>
          <a:prstGeom prst="bentConnector2">
            <a:avLst/>
          </a:prstGeom>
          <a:ln w="136906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C38E1C0-39FA-01E4-275A-AD658AC19E24}"/>
              </a:ext>
            </a:extLst>
          </p:cNvPr>
          <p:cNvSpPr txBox="1"/>
          <p:nvPr/>
        </p:nvSpPr>
        <p:spPr>
          <a:xfrm>
            <a:off x="298580" y="17504229"/>
            <a:ext cx="218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manuscript main text</a:t>
            </a:r>
          </a:p>
        </p:txBody>
      </p: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B6C498AC-C7AC-0548-06D3-552CA17210D9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468953" y="7262975"/>
            <a:ext cx="4277357" cy="1841808"/>
          </a:xfrm>
          <a:prstGeom prst="bentConnector3">
            <a:avLst>
              <a:gd name="adj1" fmla="val 59393"/>
            </a:avLst>
          </a:prstGeom>
          <a:ln w="43307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C565E1D5-225B-BA61-0FD6-B56A2DF325F3}"/>
              </a:ext>
            </a:extLst>
          </p:cNvPr>
          <p:cNvCxnSpPr>
            <a:cxnSpLocks/>
          </p:cNvCxnSpPr>
          <p:nvPr/>
        </p:nvCxnSpPr>
        <p:spPr>
          <a:xfrm flipV="1">
            <a:off x="11499655" y="5080984"/>
            <a:ext cx="4125497" cy="969029"/>
          </a:xfrm>
          <a:prstGeom prst="bentConnector2">
            <a:avLst/>
          </a:prstGeom>
          <a:ln w="43307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4E9CAA53-D841-37EB-D724-E2F9FE64C615}"/>
              </a:ext>
            </a:extLst>
          </p:cNvPr>
          <p:cNvCxnSpPr>
            <a:cxnSpLocks/>
          </p:cNvCxnSpPr>
          <p:nvPr/>
        </p:nvCxnSpPr>
        <p:spPr>
          <a:xfrm rot="10800000">
            <a:off x="13829465" y="9640783"/>
            <a:ext cx="3047017" cy="941153"/>
          </a:xfrm>
          <a:prstGeom prst="bentConnector3">
            <a:avLst>
              <a:gd name="adj1" fmla="val -9483"/>
            </a:avLst>
          </a:prstGeom>
          <a:ln w="14224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3DB61E4-0748-3F37-9751-0266989B87B1}"/>
              </a:ext>
            </a:extLst>
          </p:cNvPr>
          <p:cNvCxnSpPr>
            <a:cxnSpLocks/>
          </p:cNvCxnSpPr>
          <p:nvPr/>
        </p:nvCxnSpPr>
        <p:spPr>
          <a:xfrm flipH="1" flipV="1">
            <a:off x="13829461" y="7145322"/>
            <a:ext cx="1" cy="2495461"/>
          </a:xfrm>
          <a:prstGeom prst="straightConnector1">
            <a:avLst/>
          </a:prstGeom>
          <a:ln w="14224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6795015-6C94-B62D-2D49-600B3EF88D31}"/>
              </a:ext>
            </a:extLst>
          </p:cNvPr>
          <p:cNvSpPr txBox="1"/>
          <p:nvPr/>
        </p:nvSpPr>
        <p:spPr>
          <a:xfrm>
            <a:off x="19582194" y="6477127"/>
            <a:ext cx="3409145" cy="3471848"/>
          </a:xfrm>
          <a:prstGeom prst="rect">
            <a:avLst/>
          </a:prstGeom>
          <a:ln w="508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Fisher’s </a:t>
            </a:r>
            <a:r>
              <a:rPr 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29.768</a:t>
            </a:r>
          </a:p>
          <a:p>
            <a:pPr>
              <a:lnSpc>
                <a:spcPct val="150000"/>
              </a:lnSpc>
            </a:pPr>
            <a:r>
              <a:rPr 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-value = 0.922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AIC = 121.768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BIC = 308.272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 = 42</a:t>
            </a:r>
          </a:p>
        </p:txBody>
      </p: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CC6E2240-2DC4-2D6B-4648-61843B38BA5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1551520" y="4844236"/>
            <a:ext cx="3185268" cy="3649138"/>
          </a:xfrm>
          <a:prstGeom prst="bentConnector3">
            <a:avLst>
              <a:gd name="adj1" fmla="val 75662"/>
            </a:avLst>
          </a:prstGeom>
          <a:ln w="3365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Rectangle 150">
            <a:extLst>
              <a:ext uri="{FF2B5EF4-FFF2-40B4-BE49-F238E27FC236}">
                <a16:creationId xmlns:a16="http://schemas.microsoft.com/office/drawing/2014/main" id="{52423B29-35B5-9B6F-567C-E9C20E59598B}"/>
              </a:ext>
            </a:extLst>
          </p:cNvPr>
          <p:cNvSpPr/>
          <p:nvPr/>
        </p:nvSpPr>
        <p:spPr>
          <a:xfrm>
            <a:off x="14744331" y="8261438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VPD</a:t>
            </a:r>
            <a:r>
              <a:rPr lang="en-US" sz="30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  <a:endParaRPr lang="en-US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23213933-7EA2-A749-1F7B-2F2186FA569E}"/>
              </a:ext>
            </a:extLst>
          </p:cNvPr>
          <p:cNvSpPr/>
          <p:nvPr/>
        </p:nvSpPr>
        <p:spPr>
          <a:xfrm>
            <a:off x="12919762" y="2158372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3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Ν</a:t>
            </a:r>
            <a:r>
              <a:rPr lang="en-US" sz="30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area</a:t>
            </a:r>
            <a:endParaRPr lang="en-US" sz="30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C5E78A6B-70A3-51B7-4E35-61DC0344F209}"/>
              </a:ext>
            </a:extLst>
          </p:cNvPr>
          <p:cNvSpPr/>
          <p:nvPr/>
        </p:nvSpPr>
        <p:spPr>
          <a:xfrm>
            <a:off x="16563729" y="6239523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000" b="1" baseline="-25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0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3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831EFE87-5954-79FB-5410-F4BC8563FCDF}"/>
              </a:ext>
            </a:extLst>
          </p:cNvPr>
          <p:cNvSpPr/>
          <p:nvPr/>
        </p:nvSpPr>
        <p:spPr>
          <a:xfrm>
            <a:off x="11100364" y="4198948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30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area</a:t>
            </a:r>
            <a:endParaRPr lang="en-US" sz="30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196DCF3C-1E9F-84BF-A1CB-74EFF6943139}"/>
              </a:ext>
            </a:extLst>
          </p:cNvPr>
          <p:cNvSpPr/>
          <p:nvPr/>
        </p:nvSpPr>
        <p:spPr>
          <a:xfrm>
            <a:off x="14744331" y="4198948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0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mass</a:t>
            </a:r>
            <a:endParaRPr lang="en-US" sz="30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CAEEF86E-BF80-675F-3FA2-55D6B97D4497}"/>
              </a:ext>
            </a:extLst>
          </p:cNvPr>
          <p:cNvSpPr/>
          <p:nvPr/>
        </p:nvSpPr>
        <p:spPr>
          <a:xfrm>
            <a:off x="11095193" y="8261439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3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endParaRPr lang="en-US" sz="30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A78B38F8-81B3-D1FA-0AD1-5773256590EC}"/>
              </a:ext>
            </a:extLst>
          </p:cNvPr>
          <p:cNvSpPr/>
          <p:nvPr/>
        </p:nvSpPr>
        <p:spPr>
          <a:xfrm>
            <a:off x="9275795" y="10322557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Soil N</a:t>
            </a:r>
            <a:endParaRPr lang="en-US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2D17192C-937C-49F2-AB55-CCF25B817752}"/>
              </a:ext>
            </a:extLst>
          </p:cNvPr>
          <p:cNvSpPr/>
          <p:nvPr/>
        </p:nvSpPr>
        <p:spPr>
          <a:xfrm>
            <a:off x="9275795" y="6239523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0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fixer</a:t>
            </a:r>
            <a:endParaRPr lang="en-US" sz="30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593FE4-6B3D-C1B4-601D-36AC6C1199A2}"/>
              </a:ext>
            </a:extLst>
          </p:cNvPr>
          <p:cNvSpPr/>
          <p:nvPr/>
        </p:nvSpPr>
        <p:spPr>
          <a:xfrm>
            <a:off x="12919762" y="10320676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 clay</a:t>
            </a:r>
            <a:endParaRPr lang="en-US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37E4791A-A4FE-F459-D539-AC5C8696DD32}"/>
              </a:ext>
            </a:extLst>
          </p:cNvPr>
          <p:cNvSpPr/>
          <p:nvPr/>
        </p:nvSpPr>
        <p:spPr>
          <a:xfrm>
            <a:off x="12919762" y="6239524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0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:C</a:t>
            </a:r>
            <a:r>
              <a:rPr lang="en-US" sz="30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EC6E95A2-A99B-1EAD-2343-C2D4995139F9}"/>
              </a:ext>
            </a:extLst>
          </p:cNvPr>
          <p:cNvSpPr/>
          <p:nvPr/>
        </p:nvSpPr>
        <p:spPr>
          <a:xfrm>
            <a:off x="16563729" y="10329925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</a:t>
            </a:r>
            <a:r>
              <a:rPr lang="en-US" sz="30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  <a:endParaRPr lang="en-US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4BA27744-8C97-0455-D374-264108D8F242}"/>
              </a:ext>
            </a:extLst>
          </p:cNvPr>
          <p:cNvCxnSpPr>
            <a:cxnSpLocks/>
            <a:stCxn id="150" idx="0"/>
            <a:endCxn id="148" idx="2"/>
          </p:cNvCxnSpPr>
          <p:nvPr/>
        </p:nvCxnSpPr>
        <p:spPr>
          <a:xfrm rot="16200000" flipV="1">
            <a:off x="14143529" y="7000026"/>
            <a:ext cx="1191263" cy="5468536"/>
          </a:xfrm>
          <a:prstGeom prst="bentConnector3">
            <a:avLst>
              <a:gd name="adj1" fmla="val 30810"/>
            </a:avLst>
          </a:prstGeom>
          <a:ln w="21463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CE25E85-44C2-A04F-8504-CAC3FF15233B}"/>
              </a:ext>
            </a:extLst>
          </p:cNvPr>
          <p:cNvCxnSpPr>
            <a:cxnSpLocks/>
          </p:cNvCxnSpPr>
          <p:nvPr/>
        </p:nvCxnSpPr>
        <p:spPr>
          <a:xfrm>
            <a:off x="14739160" y="10889918"/>
            <a:ext cx="1824569" cy="9249"/>
          </a:xfrm>
          <a:prstGeom prst="straightConnector1">
            <a:avLst/>
          </a:prstGeom>
          <a:ln w="13462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9572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C7EFE26F-7F6A-1C58-17DB-D9A4DE6DA6A4}"/>
              </a:ext>
            </a:extLst>
          </p:cNvPr>
          <p:cNvCxnSpPr>
            <a:cxnSpLocks/>
          </p:cNvCxnSpPr>
          <p:nvPr/>
        </p:nvCxnSpPr>
        <p:spPr>
          <a:xfrm rot="16200000" flipH="1">
            <a:off x="8530795" y="6749500"/>
            <a:ext cx="601182" cy="1459355"/>
          </a:xfrm>
          <a:prstGeom prst="bentConnector2">
            <a:avLst/>
          </a:prstGeom>
          <a:ln w="762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7C00614C-0DD8-B171-CDE2-93D6B6F27D6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514109" y="7789409"/>
            <a:ext cx="634554" cy="1459355"/>
          </a:xfrm>
          <a:prstGeom prst="bentConnector2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C38E1C0-39FA-01E4-275A-AD658AC19E24}"/>
              </a:ext>
            </a:extLst>
          </p:cNvPr>
          <p:cNvSpPr txBox="1"/>
          <p:nvPr/>
        </p:nvSpPr>
        <p:spPr>
          <a:xfrm>
            <a:off x="298580" y="17504229"/>
            <a:ext cx="218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manuscript main text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C8D84F6-E7F2-457E-C6CE-71B0F87335B1}"/>
              </a:ext>
            </a:extLst>
          </p:cNvPr>
          <p:cNvCxnSpPr>
            <a:cxnSpLocks/>
          </p:cNvCxnSpPr>
          <p:nvPr/>
        </p:nvCxnSpPr>
        <p:spPr>
          <a:xfrm>
            <a:off x="11380462" y="8009416"/>
            <a:ext cx="892510" cy="0"/>
          </a:xfrm>
          <a:prstGeom prst="straightConnector1">
            <a:avLst/>
          </a:prstGeom>
          <a:ln w="762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071B235-6C4D-6C35-571A-EA3AE9A92167}"/>
              </a:ext>
            </a:extLst>
          </p:cNvPr>
          <p:cNvCxnSpPr>
            <a:cxnSpLocks/>
          </p:cNvCxnSpPr>
          <p:nvPr/>
        </p:nvCxnSpPr>
        <p:spPr>
          <a:xfrm>
            <a:off x="12695276" y="6472734"/>
            <a:ext cx="0" cy="1098071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1A91E203-0108-68AF-3E35-4118D6B6B8BA}"/>
              </a:ext>
            </a:extLst>
          </p:cNvPr>
          <p:cNvCxnSpPr>
            <a:stCxn id="24" idx="0"/>
            <a:endCxn id="20" idx="1"/>
          </p:cNvCxnSpPr>
          <p:nvPr/>
        </p:nvCxnSpPr>
        <p:spPr>
          <a:xfrm rot="5400000" flipH="1" flipV="1">
            <a:off x="13651245" y="6523550"/>
            <a:ext cx="589520" cy="1504991"/>
          </a:xfrm>
          <a:prstGeom prst="bentConnector2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4B9A6050-891E-DD21-BF59-4A2C98309D21}"/>
              </a:ext>
            </a:extLst>
          </p:cNvPr>
          <p:cNvCxnSpPr>
            <a:cxnSpLocks/>
            <a:stCxn id="24" idx="2"/>
            <a:endCxn id="17" idx="1"/>
          </p:cNvCxnSpPr>
          <p:nvPr/>
        </p:nvCxnSpPr>
        <p:spPr>
          <a:xfrm rot="16200000" flipH="1">
            <a:off x="13628728" y="8012809"/>
            <a:ext cx="634555" cy="1504991"/>
          </a:xfrm>
          <a:prstGeom prst="bentConnector2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C692133E-2952-0ECD-87D3-B8F051B6F346}"/>
              </a:ext>
            </a:extLst>
          </p:cNvPr>
          <p:cNvCxnSpPr>
            <a:cxnSpLocks/>
            <a:stCxn id="20" idx="0"/>
            <a:endCxn id="11" idx="0"/>
          </p:cNvCxnSpPr>
          <p:nvPr/>
        </p:nvCxnSpPr>
        <p:spPr>
          <a:xfrm rot="16200000" flipH="1">
            <a:off x="16216008" y="5934864"/>
            <a:ext cx="1061295" cy="2276912"/>
          </a:xfrm>
          <a:prstGeom prst="bentConnector3">
            <a:avLst>
              <a:gd name="adj1" fmla="val -21540"/>
            </a:avLst>
          </a:prstGeom>
          <a:ln w="762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Elbow Connector 57">
            <a:extLst>
              <a:ext uri="{FF2B5EF4-FFF2-40B4-BE49-F238E27FC236}">
                <a16:creationId xmlns:a16="http://schemas.microsoft.com/office/drawing/2014/main" id="{2A6C5F73-DA31-2131-4A22-7E2D5FC27865}"/>
              </a:ext>
            </a:extLst>
          </p:cNvPr>
          <p:cNvCxnSpPr>
            <a:cxnSpLocks/>
            <a:stCxn id="17" idx="2"/>
            <a:endCxn id="11" idx="2"/>
          </p:cNvCxnSpPr>
          <p:nvPr/>
        </p:nvCxnSpPr>
        <p:spPr>
          <a:xfrm rot="5400000" flipH="1" flipV="1">
            <a:off x="16226654" y="7862737"/>
            <a:ext cx="1040003" cy="2276912"/>
          </a:xfrm>
          <a:prstGeom prst="bentConnector3">
            <a:avLst>
              <a:gd name="adj1" fmla="val -21981"/>
            </a:avLst>
          </a:prstGeom>
          <a:ln w="762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774FBE6D-425A-614C-E507-AC3AF7F3D74F}"/>
              </a:ext>
            </a:extLst>
          </p:cNvPr>
          <p:cNvCxnSpPr>
            <a:stCxn id="28" idx="2"/>
            <a:endCxn id="23" idx="0"/>
          </p:cNvCxnSpPr>
          <p:nvPr/>
        </p:nvCxnSpPr>
        <p:spPr>
          <a:xfrm>
            <a:off x="10470763" y="6482167"/>
            <a:ext cx="0" cy="1099316"/>
          </a:xfrm>
          <a:prstGeom prst="straightConnector1">
            <a:avLst/>
          </a:prstGeom>
          <a:ln w="762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B7BC32FF-CA01-6112-27E7-E36B0ED38566}"/>
              </a:ext>
            </a:extLst>
          </p:cNvPr>
          <p:cNvCxnSpPr>
            <a:cxnSpLocks/>
            <a:stCxn id="12" idx="0"/>
            <a:endCxn id="23" idx="2"/>
          </p:cNvCxnSpPr>
          <p:nvPr/>
        </p:nvCxnSpPr>
        <p:spPr>
          <a:xfrm flipV="1">
            <a:off x="10464413" y="8458706"/>
            <a:ext cx="6350" cy="1079290"/>
          </a:xfrm>
          <a:prstGeom prst="straightConnector1">
            <a:avLst/>
          </a:prstGeom>
          <a:ln w="762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80931944-38F4-9378-6003-83D1DE15C050}"/>
              </a:ext>
            </a:extLst>
          </p:cNvPr>
          <p:cNvSpPr/>
          <p:nvPr/>
        </p:nvSpPr>
        <p:spPr>
          <a:xfrm>
            <a:off x="9554714" y="9537996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photo.</a:t>
            </a:r>
            <a:endParaRPr lang="en-US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510981-FE55-509B-F5B4-9D8C4012346D}"/>
              </a:ext>
            </a:extLst>
          </p:cNvPr>
          <p:cNvSpPr/>
          <p:nvPr/>
        </p:nvSpPr>
        <p:spPr>
          <a:xfrm>
            <a:off x="9561064" y="7581483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9845BF1-920A-DFA4-A428-9653A04CD2C8}"/>
              </a:ext>
            </a:extLst>
          </p:cNvPr>
          <p:cNvSpPr/>
          <p:nvPr/>
        </p:nvSpPr>
        <p:spPr>
          <a:xfrm>
            <a:off x="9561064" y="5604944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fixation</a:t>
            </a:r>
            <a:endParaRPr lang="en-US" sz="24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2EA15D-68B8-4207-39F2-1F2B218F4B4D}"/>
              </a:ext>
            </a:extLst>
          </p:cNvPr>
          <p:cNvSpPr/>
          <p:nvPr/>
        </p:nvSpPr>
        <p:spPr>
          <a:xfrm>
            <a:off x="16975413" y="7603968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Ν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CF0D2AF-8598-6EDA-181B-6A30A35A32CE}"/>
              </a:ext>
            </a:extLst>
          </p:cNvPr>
          <p:cNvSpPr/>
          <p:nvPr/>
        </p:nvSpPr>
        <p:spPr>
          <a:xfrm>
            <a:off x="14698501" y="8643971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7FC6D2D-F10F-B106-3C23-5AEBE11DFAC5}"/>
              </a:ext>
            </a:extLst>
          </p:cNvPr>
          <p:cNvSpPr/>
          <p:nvPr/>
        </p:nvSpPr>
        <p:spPr>
          <a:xfrm>
            <a:off x="14698501" y="6542673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mass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80C041E-0131-071A-4799-F8F798234F95}"/>
              </a:ext>
            </a:extLst>
          </p:cNvPr>
          <p:cNvSpPr/>
          <p:nvPr/>
        </p:nvSpPr>
        <p:spPr>
          <a:xfrm>
            <a:off x="11785577" y="5604944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VPD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27ADCE2-63D0-A5FF-CAAC-360272DBA0BD}"/>
              </a:ext>
            </a:extLst>
          </p:cNvPr>
          <p:cNvSpPr/>
          <p:nvPr/>
        </p:nvSpPr>
        <p:spPr>
          <a:xfrm>
            <a:off x="12283811" y="7570805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:C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6815A72-A478-F607-8624-6D6512D0A23A}"/>
              </a:ext>
            </a:extLst>
          </p:cNvPr>
          <p:cNvSpPr/>
          <p:nvPr/>
        </p:nvSpPr>
        <p:spPr>
          <a:xfrm>
            <a:off x="7096001" y="8654649"/>
            <a:ext cx="2011416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availability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2327FC8-D9F4-D197-4681-DC89C3E206D2}"/>
              </a:ext>
            </a:extLst>
          </p:cNvPr>
          <p:cNvSpPr/>
          <p:nvPr/>
        </p:nvSpPr>
        <p:spPr>
          <a:xfrm>
            <a:off x="7192010" y="6541690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Soil moisture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C28B6F10-F70F-E086-9002-A58731042844}"/>
              </a:ext>
            </a:extLst>
          </p:cNvPr>
          <p:cNvGrpSpPr/>
          <p:nvPr/>
        </p:nvGrpSpPr>
        <p:grpSpPr>
          <a:xfrm>
            <a:off x="12447763" y="9988499"/>
            <a:ext cx="2561532" cy="853440"/>
            <a:chOff x="14336889" y="10167639"/>
            <a:chExt cx="2561532" cy="853440"/>
          </a:xfrm>
        </p:grpSpPr>
        <p:cxnSp>
          <p:nvCxnSpPr>
            <p:cNvPr id="166" name="Straight Arrow Connector 165">
              <a:extLst>
                <a:ext uri="{FF2B5EF4-FFF2-40B4-BE49-F238E27FC236}">
                  <a16:creationId xmlns:a16="http://schemas.microsoft.com/office/drawing/2014/main" id="{B90815B3-A9CD-8F5D-1C47-85B6BA13A86E}"/>
                </a:ext>
              </a:extLst>
            </p:cNvPr>
            <p:cNvCxnSpPr/>
            <p:nvPr/>
          </p:nvCxnSpPr>
          <p:spPr>
            <a:xfrm>
              <a:off x="14498320" y="10441446"/>
              <a:ext cx="680720" cy="0"/>
            </a:xfrm>
            <a:prstGeom prst="straightConnector1">
              <a:avLst/>
            </a:prstGeom>
            <a:ln w="76200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BB795558-80F9-C97A-8499-B405AF36EBE4}"/>
                </a:ext>
              </a:extLst>
            </p:cNvPr>
            <p:cNvSpPr txBox="1"/>
            <p:nvPr/>
          </p:nvSpPr>
          <p:spPr>
            <a:xfrm>
              <a:off x="15179040" y="10256780"/>
              <a:ext cx="16167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Positive effect</a:t>
              </a:r>
            </a:p>
          </p:txBody>
        </p:sp>
        <p:cxnSp>
          <p:nvCxnSpPr>
            <p:cNvPr id="170" name="Straight Arrow Connector 169">
              <a:extLst>
                <a:ext uri="{FF2B5EF4-FFF2-40B4-BE49-F238E27FC236}">
                  <a16:creationId xmlns:a16="http://schemas.microsoft.com/office/drawing/2014/main" id="{C986F98D-70EC-4DB6-E1AA-6721C8E12ED4}"/>
                </a:ext>
              </a:extLst>
            </p:cNvPr>
            <p:cNvCxnSpPr/>
            <p:nvPr/>
          </p:nvCxnSpPr>
          <p:spPr>
            <a:xfrm>
              <a:off x="14498320" y="10729878"/>
              <a:ext cx="680720" cy="0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07CE8DC2-51F8-6822-B753-D1D4B10A13E6}"/>
                </a:ext>
              </a:extLst>
            </p:cNvPr>
            <p:cNvSpPr txBox="1"/>
            <p:nvPr/>
          </p:nvSpPr>
          <p:spPr>
            <a:xfrm>
              <a:off x="15179040" y="10545212"/>
              <a:ext cx="17193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Negative effect</a:t>
              </a:r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7BEAF243-6676-38EB-E087-B8A557E97B57}"/>
                </a:ext>
              </a:extLst>
            </p:cNvPr>
            <p:cNvSpPr/>
            <p:nvPr/>
          </p:nvSpPr>
          <p:spPr>
            <a:xfrm>
              <a:off x="14336889" y="10167639"/>
              <a:ext cx="2561532" cy="85344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B6E197D-9D1E-2976-FC1F-DA2F3229DA96}"/>
              </a:ext>
            </a:extLst>
          </p:cNvPr>
          <p:cNvSpPr txBox="1"/>
          <p:nvPr/>
        </p:nvSpPr>
        <p:spPr>
          <a:xfrm>
            <a:off x="8525116" y="8042579"/>
            <a:ext cx="479618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6A0B9A-6DB1-A26B-7E4C-F586E87642CF}"/>
              </a:ext>
            </a:extLst>
          </p:cNvPr>
          <p:cNvSpPr txBox="1"/>
          <p:nvPr/>
        </p:nvSpPr>
        <p:spPr>
          <a:xfrm>
            <a:off x="10230954" y="6792861"/>
            <a:ext cx="479618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195281-886B-21E0-3578-5D195C47154A}"/>
              </a:ext>
            </a:extLst>
          </p:cNvPr>
          <p:cNvSpPr txBox="1"/>
          <p:nvPr/>
        </p:nvSpPr>
        <p:spPr>
          <a:xfrm>
            <a:off x="11476013" y="7825666"/>
            <a:ext cx="479618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6C2198-EDB1-9DCC-4D28-50B37F8FAD65}"/>
              </a:ext>
            </a:extLst>
          </p:cNvPr>
          <p:cNvSpPr txBox="1"/>
          <p:nvPr/>
        </p:nvSpPr>
        <p:spPr>
          <a:xfrm>
            <a:off x="12440524" y="6792861"/>
            <a:ext cx="479618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B1F056-2687-19E2-C5AE-15A91D190D59}"/>
              </a:ext>
            </a:extLst>
          </p:cNvPr>
          <p:cNvSpPr txBox="1"/>
          <p:nvPr/>
        </p:nvSpPr>
        <p:spPr>
          <a:xfrm>
            <a:off x="13624624" y="6792861"/>
            <a:ext cx="479618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1D7343-E1F1-392B-7D98-995F8F015045}"/>
              </a:ext>
            </a:extLst>
          </p:cNvPr>
          <p:cNvSpPr txBox="1"/>
          <p:nvPr/>
        </p:nvSpPr>
        <p:spPr>
          <a:xfrm>
            <a:off x="13624624" y="8895919"/>
            <a:ext cx="479618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650EA5-7739-1BC9-E264-CE5492D01978}"/>
              </a:ext>
            </a:extLst>
          </p:cNvPr>
          <p:cNvSpPr txBox="1"/>
          <p:nvPr/>
        </p:nvSpPr>
        <p:spPr>
          <a:xfrm>
            <a:off x="8524251" y="7598863"/>
            <a:ext cx="479618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BD59DE-BF15-7C30-3D5D-51BFDF7845BA}"/>
              </a:ext>
            </a:extLst>
          </p:cNvPr>
          <p:cNvSpPr txBox="1"/>
          <p:nvPr/>
        </p:nvSpPr>
        <p:spPr>
          <a:xfrm>
            <a:off x="10230954" y="8894216"/>
            <a:ext cx="479618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2782B1-6B79-FF48-1706-7B6F70E2F720}"/>
              </a:ext>
            </a:extLst>
          </p:cNvPr>
          <p:cNvSpPr txBox="1"/>
          <p:nvPr/>
        </p:nvSpPr>
        <p:spPr>
          <a:xfrm>
            <a:off x="16807325" y="6126900"/>
            <a:ext cx="479618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49C3C0-91D3-F7D1-7109-C109AE285947}"/>
              </a:ext>
            </a:extLst>
          </p:cNvPr>
          <p:cNvSpPr txBox="1"/>
          <p:nvPr/>
        </p:nvSpPr>
        <p:spPr>
          <a:xfrm>
            <a:off x="16807325" y="9567635"/>
            <a:ext cx="479618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H3</a:t>
            </a:r>
          </a:p>
        </p:txBody>
      </p:sp>
    </p:spTree>
    <p:extLst>
      <p:ext uri="{BB962C8B-B14F-4D97-AF65-F5344CB8AC3E}">
        <p14:creationId xmlns:p14="http://schemas.microsoft.com/office/powerpoint/2010/main" val="827455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9" name="Elbow Connector 168">
            <a:extLst>
              <a:ext uri="{FF2B5EF4-FFF2-40B4-BE49-F238E27FC236}">
                <a16:creationId xmlns:a16="http://schemas.microsoft.com/office/drawing/2014/main" id="{E9C4FFF5-B216-F1F1-94F2-316CF4741880}"/>
              </a:ext>
            </a:extLst>
          </p:cNvPr>
          <p:cNvCxnSpPr>
            <a:cxnSpLocks/>
          </p:cNvCxnSpPr>
          <p:nvPr/>
        </p:nvCxnSpPr>
        <p:spPr>
          <a:xfrm flipV="1">
            <a:off x="13445941" y="12223926"/>
            <a:ext cx="3822884" cy="1929963"/>
          </a:xfrm>
          <a:prstGeom prst="bentConnector3">
            <a:avLst>
              <a:gd name="adj1" fmla="val 76577"/>
            </a:avLst>
          </a:prstGeom>
          <a:ln w="85090">
            <a:solidFill>
              <a:schemeClr val="accent1">
                <a:lumMod val="7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99A7F893-3C94-27E1-A247-0543276C4529}"/>
              </a:ext>
            </a:extLst>
          </p:cNvPr>
          <p:cNvCxnSpPr>
            <a:cxnSpLocks/>
          </p:cNvCxnSpPr>
          <p:nvPr/>
        </p:nvCxnSpPr>
        <p:spPr>
          <a:xfrm flipV="1">
            <a:off x="17225130" y="11628113"/>
            <a:ext cx="0" cy="551173"/>
          </a:xfrm>
          <a:prstGeom prst="straightConnector1">
            <a:avLst/>
          </a:prstGeom>
          <a:ln w="85090">
            <a:solidFill>
              <a:schemeClr val="accent1">
                <a:lumMod val="75000"/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178CBA08-89EC-294E-0EC2-191244E430D5}"/>
              </a:ext>
            </a:extLst>
          </p:cNvPr>
          <p:cNvCxnSpPr/>
          <p:nvPr/>
        </p:nvCxnSpPr>
        <p:spPr>
          <a:xfrm>
            <a:off x="11164817" y="13302762"/>
            <a:ext cx="5556606" cy="0"/>
          </a:xfrm>
          <a:prstGeom prst="straightConnector1">
            <a:avLst/>
          </a:prstGeom>
          <a:ln w="54483">
            <a:solidFill>
              <a:srgbClr val="C00000">
                <a:alpha val="50000"/>
              </a:srgb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8FDC0034-D082-9352-93D2-19853D94A13E}"/>
              </a:ext>
            </a:extLst>
          </p:cNvPr>
          <p:cNvCxnSpPr>
            <a:cxnSpLocks/>
          </p:cNvCxnSpPr>
          <p:nvPr/>
        </p:nvCxnSpPr>
        <p:spPr>
          <a:xfrm flipV="1">
            <a:off x="12767972" y="11443505"/>
            <a:ext cx="3987931" cy="289219"/>
          </a:xfrm>
          <a:prstGeom prst="bentConnector3">
            <a:avLst>
              <a:gd name="adj1" fmla="val 37"/>
            </a:avLst>
          </a:prstGeom>
          <a:ln w="37592">
            <a:solidFill>
              <a:srgbClr val="C00000">
                <a:alpha val="50000"/>
              </a:srgb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7C00614C-0DD8-B171-CDE2-93D6B6F27D6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0662366" y="11843539"/>
            <a:ext cx="452840" cy="1459354"/>
          </a:xfrm>
          <a:prstGeom prst="bentConnector2">
            <a:avLst/>
          </a:prstGeom>
          <a:ln w="17653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C38E1C0-39FA-01E4-275A-AD658AC19E24}"/>
              </a:ext>
            </a:extLst>
          </p:cNvPr>
          <p:cNvSpPr txBox="1"/>
          <p:nvPr/>
        </p:nvSpPr>
        <p:spPr>
          <a:xfrm>
            <a:off x="298580" y="17504229"/>
            <a:ext cx="218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manuscript main text</a:t>
            </a:r>
          </a:p>
        </p:txBody>
      </p: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774FBE6D-425A-614C-E507-AC3AF7F3D74F}"/>
              </a:ext>
            </a:extLst>
          </p:cNvPr>
          <p:cNvCxnSpPr>
            <a:stCxn id="28" idx="2"/>
            <a:endCxn id="23" idx="0"/>
          </p:cNvCxnSpPr>
          <p:nvPr/>
        </p:nvCxnSpPr>
        <p:spPr>
          <a:xfrm>
            <a:off x="12528163" y="10652037"/>
            <a:ext cx="0" cy="1099316"/>
          </a:xfrm>
          <a:prstGeom prst="straightConnector1">
            <a:avLst/>
          </a:prstGeom>
          <a:ln w="23114">
            <a:solidFill>
              <a:schemeClr val="bg1">
                <a:lumMod val="6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94EF1EEE-0B30-C75D-DC46-54C3B91F6064}"/>
              </a:ext>
            </a:extLst>
          </p:cNvPr>
          <p:cNvCxnSpPr>
            <a:cxnSpLocks/>
          </p:cNvCxnSpPr>
          <p:nvPr/>
        </p:nvCxnSpPr>
        <p:spPr>
          <a:xfrm flipV="1">
            <a:off x="10112183" y="10712543"/>
            <a:ext cx="7049147" cy="2539909"/>
          </a:xfrm>
          <a:prstGeom prst="bentConnector4">
            <a:avLst>
              <a:gd name="adj1" fmla="val -27607"/>
              <a:gd name="adj2" fmla="val 151884"/>
            </a:avLst>
          </a:prstGeom>
          <a:ln w="42926">
            <a:solidFill>
              <a:schemeClr val="accent1">
                <a:lumMod val="75000"/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BFAAFA5-88A5-C2BF-2710-B812444BC53D}"/>
              </a:ext>
            </a:extLst>
          </p:cNvPr>
          <p:cNvCxnSpPr>
            <a:cxnSpLocks/>
            <a:endCxn id="20" idx="2"/>
          </p:cNvCxnSpPr>
          <p:nvPr/>
        </p:nvCxnSpPr>
        <p:spPr>
          <a:xfrm flipV="1">
            <a:off x="17665600" y="11589766"/>
            <a:ext cx="0" cy="1208173"/>
          </a:xfrm>
          <a:prstGeom prst="straightConnector1">
            <a:avLst/>
          </a:prstGeom>
          <a:ln w="68961">
            <a:solidFill>
              <a:srgbClr val="C00000">
                <a:alpha val="50000"/>
              </a:srgb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Elbow Connector 61">
            <a:extLst>
              <a:ext uri="{FF2B5EF4-FFF2-40B4-BE49-F238E27FC236}">
                <a16:creationId xmlns:a16="http://schemas.microsoft.com/office/drawing/2014/main" id="{0E1FF755-E116-CF23-426C-5D929A3B3406}"/>
              </a:ext>
            </a:extLst>
          </p:cNvPr>
          <p:cNvCxnSpPr>
            <a:cxnSpLocks/>
          </p:cNvCxnSpPr>
          <p:nvPr/>
        </p:nvCxnSpPr>
        <p:spPr>
          <a:xfrm rot="16200000" flipH="1">
            <a:off x="14685650" y="8857626"/>
            <a:ext cx="241362" cy="3830184"/>
          </a:xfrm>
          <a:prstGeom prst="bentConnector2">
            <a:avLst/>
          </a:prstGeom>
          <a:ln w="56134">
            <a:solidFill>
              <a:schemeClr val="accent1">
                <a:lumMod val="75000"/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Elbow Connector 128">
            <a:extLst>
              <a:ext uri="{FF2B5EF4-FFF2-40B4-BE49-F238E27FC236}">
                <a16:creationId xmlns:a16="http://schemas.microsoft.com/office/drawing/2014/main" id="{CC42D919-D3D4-7A00-7527-A8EF0790A129}"/>
              </a:ext>
            </a:extLst>
          </p:cNvPr>
          <p:cNvCxnSpPr>
            <a:cxnSpLocks/>
            <a:stCxn id="63" idx="0"/>
          </p:cNvCxnSpPr>
          <p:nvPr/>
        </p:nvCxnSpPr>
        <p:spPr>
          <a:xfrm rot="16200000" flipH="1">
            <a:off x="12815829" y="6110911"/>
            <a:ext cx="1128704" cy="8046396"/>
          </a:xfrm>
          <a:prstGeom prst="bentConnector4">
            <a:avLst>
              <a:gd name="adj1" fmla="val -39911"/>
              <a:gd name="adj2" fmla="val 99940"/>
            </a:avLst>
          </a:prstGeom>
          <a:ln w="30607">
            <a:solidFill>
              <a:schemeClr val="accent1">
                <a:lumMod val="75000"/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Elbow Connector 139">
            <a:extLst>
              <a:ext uri="{FF2B5EF4-FFF2-40B4-BE49-F238E27FC236}">
                <a16:creationId xmlns:a16="http://schemas.microsoft.com/office/drawing/2014/main" id="{3A558BCD-D36E-ACDE-13E4-D1938A2E2DCE}"/>
              </a:ext>
            </a:extLst>
          </p:cNvPr>
          <p:cNvCxnSpPr>
            <a:cxnSpLocks/>
            <a:stCxn id="12" idx="2"/>
          </p:cNvCxnSpPr>
          <p:nvPr/>
        </p:nvCxnSpPr>
        <p:spPr>
          <a:xfrm rot="5400000" flipH="1" flipV="1">
            <a:off x="14384474" y="11828403"/>
            <a:ext cx="894024" cy="4619347"/>
          </a:xfrm>
          <a:prstGeom prst="bentConnector4">
            <a:avLst>
              <a:gd name="adj1" fmla="val -25570"/>
              <a:gd name="adj2" fmla="val 99935"/>
            </a:avLst>
          </a:prstGeom>
          <a:ln w="82550">
            <a:solidFill>
              <a:schemeClr val="accent1">
                <a:lumMod val="75000"/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Elbow Connector 141">
            <a:extLst>
              <a:ext uri="{FF2B5EF4-FFF2-40B4-BE49-F238E27FC236}">
                <a16:creationId xmlns:a16="http://schemas.microsoft.com/office/drawing/2014/main" id="{43D581EE-7756-8EB7-2A0C-C9DA7CF9127C}"/>
              </a:ext>
            </a:extLst>
          </p:cNvPr>
          <p:cNvCxnSpPr>
            <a:cxnSpLocks/>
          </p:cNvCxnSpPr>
          <p:nvPr/>
        </p:nvCxnSpPr>
        <p:spPr>
          <a:xfrm flipV="1">
            <a:off x="13431512" y="12651061"/>
            <a:ext cx="1315128" cy="1165957"/>
          </a:xfrm>
          <a:prstGeom prst="bentConnector3">
            <a:avLst>
              <a:gd name="adj1" fmla="val 100102"/>
            </a:avLst>
          </a:prstGeom>
          <a:ln w="154559">
            <a:solidFill>
              <a:schemeClr val="accent1">
                <a:lumMod val="75000"/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lbow Connector 147">
            <a:extLst>
              <a:ext uri="{FF2B5EF4-FFF2-40B4-BE49-F238E27FC236}">
                <a16:creationId xmlns:a16="http://schemas.microsoft.com/office/drawing/2014/main" id="{EAE41966-968B-FD1C-038F-94171340CB2C}"/>
              </a:ext>
            </a:extLst>
          </p:cNvPr>
          <p:cNvCxnSpPr>
            <a:cxnSpLocks/>
          </p:cNvCxnSpPr>
          <p:nvPr/>
        </p:nvCxnSpPr>
        <p:spPr>
          <a:xfrm>
            <a:off x="11095549" y="10999207"/>
            <a:ext cx="3920792" cy="699162"/>
          </a:xfrm>
          <a:prstGeom prst="bentConnector3">
            <a:avLst>
              <a:gd name="adj1" fmla="val 100091"/>
            </a:avLst>
          </a:prstGeom>
          <a:ln w="14477">
            <a:solidFill>
              <a:srgbClr val="C00000">
                <a:alpha val="50000"/>
              </a:srgb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69A5FC4C-C100-2E69-CAD6-49962A2ADF0B}"/>
              </a:ext>
            </a:extLst>
          </p:cNvPr>
          <p:cNvCxnSpPr/>
          <p:nvPr/>
        </p:nvCxnSpPr>
        <p:spPr>
          <a:xfrm>
            <a:off x="9607913" y="11607411"/>
            <a:ext cx="0" cy="1225296"/>
          </a:xfrm>
          <a:prstGeom prst="straightConnector1">
            <a:avLst/>
          </a:prstGeom>
          <a:ln w="33274">
            <a:solidFill>
              <a:srgbClr val="C00000">
                <a:alpha val="50000"/>
              </a:srgb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lbow Connector 151">
            <a:extLst>
              <a:ext uri="{FF2B5EF4-FFF2-40B4-BE49-F238E27FC236}">
                <a16:creationId xmlns:a16="http://schemas.microsoft.com/office/drawing/2014/main" id="{81F7E556-E97A-091B-90E4-5F8880D9B5EE}"/>
              </a:ext>
            </a:extLst>
          </p:cNvPr>
          <p:cNvCxnSpPr>
            <a:cxnSpLocks/>
          </p:cNvCxnSpPr>
          <p:nvPr/>
        </p:nvCxnSpPr>
        <p:spPr>
          <a:xfrm rot="16200000" flipH="1">
            <a:off x="8194881" y="11083168"/>
            <a:ext cx="2330640" cy="1118202"/>
          </a:xfrm>
          <a:prstGeom prst="bentConnector3">
            <a:avLst>
              <a:gd name="adj1" fmla="val 72176"/>
            </a:avLst>
          </a:prstGeom>
          <a:ln w="22098">
            <a:solidFill>
              <a:srgbClr val="C00000">
                <a:alpha val="50000"/>
              </a:srgb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lbow Connector 154">
            <a:extLst>
              <a:ext uri="{FF2B5EF4-FFF2-40B4-BE49-F238E27FC236}">
                <a16:creationId xmlns:a16="http://schemas.microsoft.com/office/drawing/2014/main" id="{3E57EC6F-4D45-9806-2316-EDCAEBCACB1C}"/>
              </a:ext>
            </a:extLst>
          </p:cNvPr>
          <p:cNvCxnSpPr>
            <a:stCxn id="63" idx="3"/>
          </p:cNvCxnSpPr>
          <p:nvPr/>
        </p:nvCxnSpPr>
        <p:spPr>
          <a:xfrm>
            <a:off x="10266682" y="10008369"/>
            <a:ext cx="511136" cy="690092"/>
          </a:xfrm>
          <a:prstGeom prst="bentConnector2">
            <a:avLst/>
          </a:prstGeom>
          <a:ln w="13462">
            <a:solidFill>
              <a:schemeClr val="accent1">
                <a:lumMod val="75000"/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Elbow Connector 156">
            <a:extLst>
              <a:ext uri="{FF2B5EF4-FFF2-40B4-BE49-F238E27FC236}">
                <a16:creationId xmlns:a16="http://schemas.microsoft.com/office/drawing/2014/main" id="{B4DCE2E5-AC18-51CD-AB8B-9196BF3C8A1D}"/>
              </a:ext>
            </a:extLst>
          </p:cNvPr>
          <p:cNvCxnSpPr>
            <a:cxnSpLocks/>
          </p:cNvCxnSpPr>
          <p:nvPr/>
        </p:nvCxnSpPr>
        <p:spPr>
          <a:xfrm rot="10800000" flipV="1">
            <a:off x="11066450" y="10647746"/>
            <a:ext cx="3033374" cy="629113"/>
          </a:xfrm>
          <a:prstGeom prst="bentConnector3">
            <a:avLst>
              <a:gd name="adj1" fmla="val -66"/>
            </a:avLst>
          </a:prstGeom>
          <a:ln w="136906">
            <a:solidFill>
              <a:srgbClr val="C00000">
                <a:alpha val="50000"/>
              </a:srgb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1CBBA35F-D5EB-6D5B-A513-EBEEEC5C3F7E}"/>
              </a:ext>
            </a:extLst>
          </p:cNvPr>
          <p:cNvGrpSpPr/>
          <p:nvPr/>
        </p:nvGrpSpPr>
        <p:grpSpPr>
          <a:xfrm>
            <a:off x="10456775" y="15278054"/>
            <a:ext cx="7208824" cy="1332351"/>
            <a:chOff x="9836749" y="13266385"/>
            <a:chExt cx="7208824" cy="1332351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4B04B4E5-332A-E984-B972-CBBC6F21C38D}"/>
                </a:ext>
              </a:extLst>
            </p:cNvPr>
            <p:cNvCxnSpPr>
              <a:cxnSpLocks/>
            </p:cNvCxnSpPr>
            <p:nvPr/>
          </p:nvCxnSpPr>
          <p:spPr>
            <a:xfrm>
              <a:off x="11510490" y="13425953"/>
              <a:ext cx="951115" cy="0"/>
            </a:xfrm>
            <a:prstGeom prst="line">
              <a:avLst/>
            </a:prstGeom>
            <a:ln w="952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FEC4E5AD-BED1-A279-44E3-B8009700318D}"/>
                </a:ext>
              </a:extLst>
            </p:cNvPr>
            <p:cNvCxnSpPr>
              <a:cxnSpLocks/>
            </p:cNvCxnSpPr>
            <p:nvPr/>
          </p:nvCxnSpPr>
          <p:spPr>
            <a:xfrm>
              <a:off x="10577418" y="13446974"/>
              <a:ext cx="951115" cy="0"/>
            </a:xfrm>
            <a:prstGeom prst="line">
              <a:avLst/>
            </a:prstGeom>
            <a:ln w="476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C6D9850-8AD3-50D7-ECE3-DF5285269607}"/>
                </a:ext>
              </a:extLst>
            </p:cNvPr>
            <p:cNvCxnSpPr>
              <a:cxnSpLocks/>
            </p:cNvCxnSpPr>
            <p:nvPr/>
          </p:nvCxnSpPr>
          <p:spPr>
            <a:xfrm>
              <a:off x="14349853" y="13429128"/>
              <a:ext cx="951115" cy="0"/>
            </a:xfrm>
            <a:prstGeom prst="line">
              <a:avLst/>
            </a:prstGeom>
            <a:ln w="9525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2147E1F-2B54-F20D-72B2-A7960E445E4C}"/>
                </a:ext>
              </a:extLst>
            </p:cNvPr>
            <p:cNvCxnSpPr>
              <a:cxnSpLocks/>
            </p:cNvCxnSpPr>
            <p:nvPr/>
          </p:nvCxnSpPr>
          <p:spPr>
            <a:xfrm>
              <a:off x="15297410" y="13451128"/>
              <a:ext cx="951115" cy="0"/>
            </a:xfrm>
            <a:prstGeom prst="line">
              <a:avLst/>
            </a:prstGeom>
            <a:ln w="4762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0D070EA-BEB5-E8B4-FA51-D2FB57305773}"/>
                </a:ext>
              </a:extLst>
            </p:cNvPr>
            <p:cNvSpPr txBox="1"/>
            <p:nvPr/>
          </p:nvSpPr>
          <p:spPr>
            <a:xfrm>
              <a:off x="12533923" y="13433721"/>
              <a:ext cx="790601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-0.9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FD8FA1A-C0BB-39CF-CC0F-2FA5A3F6D88D}"/>
                </a:ext>
              </a:extLst>
            </p:cNvPr>
            <p:cNvSpPr txBox="1"/>
            <p:nvPr/>
          </p:nvSpPr>
          <p:spPr>
            <a:xfrm>
              <a:off x="13540373" y="13440763"/>
              <a:ext cx="665567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0.9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CDC2DE4-5E08-8E2E-04B0-C6AD2A6A6062}"/>
                </a:ext>
              </a:extLst>
            </p:cNvPr>
            <p:cNvSpPr txBox="1"/>
            <p:nvPr/>
          </p:nvSpPr>
          <p:spPr>
            <a:xfrm>
              <a:off x="11590746" y="13440763"/>
              <a:ext cx="793807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-0.6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DA14624-84F2-0485-5185-95509C146373}"/>
                </a:ext>
              </a:extLst>
            </p:cNvPr>
            <p:cNvSpPr txBox="1"/>
            <p:nvPr/>
          </p:nvSpPr>
          <p:spPr>
            <a:xfrm>
              <a:off x="14483550" y="13444216"/>
              <a:ext cx="665567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0.6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CABC562-E1F0-120D-098A-9BF65F33AA0C}"/>
                </a:ext>
              </a:extLst>
            </p:cNvPr>
            <p:cNvSpPr txBox="1"/>
            <p:nvPr/>
          </p:nvSpPr>
          <p:spPr>
            <a:xfrm>
              <a:off x="15439734" y="13426392"/>
              <a:ext cx="665567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0.3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3556FDD-CD0D-87ED-FCE6-D08229885854}"/>
                </a:ext>
              </a:extLst>
            </p:cNvPr>
            <p:cNvSpPr txBox="1"/>
            <p:nvPr/>
          </p:nvSpPr>
          <p:spPr>
            <a:xfrm>
              <a:off x="10693986" y="13445817"/>
              <a:ext cx="793807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-0.3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C7F9FAE-9E17-59F0-73D8-3D4C347538D3}"/>
                </a:ext>
              </a:extLst>
            </p:cNvPr>
            <p:cNvSpPr txBox="1"/>
            <p:nvPr/>
          </p:nvSpPr>
          <p:spPr>
            <a:xfrm>
              <a:off x="11276323" y="14044738"/>
              <a:ext cx="4278735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Standardized Coefficient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5FE402A-3736-CAF2-4B21-20BF2CB07DA6}"/>
                </a:ext>
              </a:extLst>
            </p:cNvPr>
            <p:cNvCxnSpPr>
              <a:cxnSpLocks/>
            </p:cNvCxnSpPr>
            <p:nvPr/>
          </p:nvCxnSpPr>
          <p:spPr>
            <a:xfrm>
              <a:off x="12453667" y="13380736"/>
              <a:ext cx="951115" cy="0"/>
            </a:xfrm>
            <a:prstGeom prst="line">
              <a:avLst/>
            </a:prstGeom>
            <a:ln w="1905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C26F1A9-624E-B2F2-06E9-2C843B87C165}"/>
                </a:ext>
              </a:extLst>
            </p:cNvPr>
            <p:cNvCxnSpPr>
              <a:cxnSpLocks/>
            </p:cNvCxnSpPr>
            <p:nvPr/>
          </p:nvCxnSpPr>
          <p:spPr>
            <a:xfrm>
              <a:off x="13401607" y="13379744"/>
              <a:ext cx="951115" cy="0"/>
            </a:xfrm>
            <a:prstGeom prst="line">
              <a:avLst/>
            </a:prstGeom>
            <a:ln w="1905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E91E506-93A1-C9EC-879B-58ACF4D0F205}"/>
                </a:ext>
              </a:extLst>
            </p:cNvPr>
            <p:cNvSpPr/>
            <p:nvPr/>
          </p:nvSpPr>
          <p:spPr>
            <a:xfrm>
              <a:off x="10539776" y="13475193"/>
              <a:ext cx="5751830" cy="568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BFC2898-6803-E8CF-8F8D-4221FD1F6C25}"/>
                </a:ext>
              </a:extLst>
            </p:cNvPr>
            <p:cNvSpPr/>
            <p:nvPr/>
          </p:nvSpPr>
          <p:spPr>
            <a:xfrm>
              <a:off x="9836749" y="13470593"/>
              <a:ext cx="7010400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C5D6A6F-A15E-A8E0-EF34-7841AAE565A4}"/>
                </a:ext>
              </a:extLst>
            </p:cNvPr>
            <p:cNvSpPr/>
            <p:nvPr/>
          </p:nvSpPr>
          <p:spPr>
            <a:xfrm>
              <a:off x="10035173" y="13266385"/>
              <a:ext cx="7010400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EC0F46AD-5660-6595-B31A-61C6180ED332}"/>
              </a:ext>
            </a:extLst>
          </p:cNvPr>
          <p:cNvCxnSpPr>
            <a:cxnSpLocks/>
          </p:cNvCxnSpPr>
          <p:nvPr/>
        </p:nvCxnSpPr>
        <p:spPr>
          <a:xfrm>
            <a:off x="10159108" y="4506165"/>
            <a:ext cx="1453008" cy="511480"/>
          </a:xfrm>
          <a:prstGeom prst="bentConnector3">
            <a:avLst>
              <a:gd name="adj1" fmla="val 240"/>
            </a:avLst>
          </a:prstGeom>
          <a:ln w="762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50E19493-3854-A720-39E0-8F5F8ADE2A64}"/>
              </a:ext>
            </a:extLst>
          </p:cNvPr>
          <p:cNvCxnSpPr>
            <a:cxnSpLocks/>
            <a:stCxn id="59" idx="0"/>
          </p:cNvCxnSpPr>
          <p:nvPr/>
        </p:nvCxnSpPr>
        <p:spPr>
          <a:xfrm rot="5400000" flipH="1" flipV="1">
            <a:off x="10706354" y="5026852"/>
            <a:ext cx="358515" cy="1453005"/>
          </a:xfrm>
          <a:prstGeom prst="bentConnector2">
            <a:avLst/>
          </a:prstGeom>
          <a:ln w="76200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5D5937C-5D36-E169-4D0F-023886A80C1A}"/>
              </a:ext>
            </a:extLst>
          </p:cNvPr>
          <p:cNvCxnSpPr>
            <a:cxnSpLocks/>
          </p:cNvCxnSpPr>
          <p:nvPr/>
        </p:nvCxnSpPr>
        <p:spPr>
          <a:xfrm>
            <a:off x="13437862" y="5287378"/>
            <a:ext cx="892510" cy="0"/>
          </a:xfrm>
          <a:prstGeom prst="straightConnector1">
            <a:avLst/>
          </a:prstGeom>
          <a:ln w="762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0EA0816-427E-79B2-9FB9-CE215E56C699}"/>
              </a:ext>
            </a:extLst>
          </p:cNvPr>
          <p:cNvCxnSpPr>
            <a:cxnSpLocks/>
          </p:cNvCxnSpPr>
          <p:nvPr/>
        </p:nvCxnSpPr>
        <p:spPr>
          <a:xfrm>
            <a:off x="14752676" y="3750696"/>
            <a:ext cx="0" cy="1098071"/>
          </a:xfrm>
          <a:prstGeom prst="straightConnector1">
            <a:avLst/>
          </a:prstGeom>
          <a:ln w="76200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859603B8-D0E6-EE9A-F84B-52C9406FA63A}"/>
              </a:ext>
            </a:extLst>
          </p:cNvPr>
          <p:cNvCxnSpPr>
            <a:stCxn id="56" idx="0"/>
            <a:endCxn id="54" idx="1"/>
          </p:cNvCxnSpPr>
          <p:nvPr/>
        </p:nvCxnSpPr>
        <p:spPr>
          <a:xfrm rot="5400000" flipH="1" flipV="1">
            <a:off x="15708645" y="3801512"/>
            <a:ext cx="589520" cy="1504991"/>
          </a:xfrm>
          <a:prstGeom prst="bentConnector2">
            <a:avLst/>
          </a:prstGeom>
          <a:ln w="76200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29D60A06-6943-3A58-68B7-7034E65EA528}"/>
              </a:ext>
            </a:extLst>
          </p:cNvPr>
          <p:cNvCxnSpPr>
            <a:cxnSpLocks/>
            <a:stCxn id="56" idx="2"/>
            <a:endCxn id="52" idx="1"/>
          </p:cNvCxnSpPr>
          <p:nvPr/>
        </p:nvCxnSpPr>
        <p:spPr>
          <a:xfrm rot="16200000" flipH="1">
            <a:off x="15686128" y="5290771"/>
            <a:ext cx="634555" cy="1504991"/>
          </a:xfrm>
          <a:prstGeom prst="bentConnector2">
            <a:avLst/>
          </a:prstGeom>
          <a:ln w="76200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4A46A1A7-2A77-6FE6-7F0F-43E4ED681435}"/>
              </a:ext>
            </a:extLst>
          </p:cNvPr>
          <p:cNvCxnSpPr>
            <a:cxnSpLocks/>
            <a:stCxn id="54" idx="0"/>
            <a:endCxn id="49" idx="0"/>
          </p:cNvCxnSpPr>
          <p:nvPr/>
        </p:nvCxnSpPr>
        <p:spPr>
          <a:xfrm rot="16200000" flipH="1">
            <a:off x="18273408" y="3212826"/>
            <a:ext cx="1061295" cy="2276912"/>
          </a:xfrm>
          <a:prstGeom prst="bentConnector3">
            <a:avLst>
              <a:gd name="adj1" fmla="val -21540"/>
            </a:avLst>
          </a:prstGeom>
          <a:ln w="762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AB1A162C-7815-C762-CF6D-7CCB7FDB7733}"/>
              </a:ext>
            </a:extLst>
          </p:cNvPr>
          <p:cNvCxnSpPr>
            <a:cxnSpLocks/>
            <a:stCxn id="52" idx="2"/>
            <a:endCxn id="49" idx="2"/>
          </p:cNvCxnSpPr>
          <p:nvPr/>
        </p:nvCxnSpPr>
        <p:spPr>
          <a:xfrm rot="5400000" flipH="1" flipV="1">
            <a:off x="18284054" y="5140699"/>
            <a:ext cx="1040003" cy="2276912"/>
          </a:xfrm>
          <a:prstGeom prst="bentConnector3">
            <a:avLst>
              <a:gd name="adj1" fmla="val -21981"/>
            </a:avLst>
          </a:prstGeom>
          <a:ln w="762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46CF9C1-01C2-6397-41A6-32005AB7C98A}"/>
              </a:ext>
            </a:extLst>
          </p:cNvPr>
          <p:cNvCxnSpPr>
            <a:cxnSpLocks/>
            <a:stCxn id="48" idx="2"/>
            <a:endCxn id="47" idx="0"/>
          </p:cNvCxnSpPr>
          <p:nvPr/>
        </p:nvCxnSpPr>
        <p:spPr>
          <a:xfrm>
            <a:off x="12528163" y="3760129"/>
            <a:ext cx="0" cy="1099316"/>
          </a:xfrm>
          <a:prstGeom prst="straightConnector1">
            <a:avLst/>
          </a:prstGeom>
          <a:ln w="76200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8939DF1-14F5-5C44-C0CF-FAE2D9FD8FA2}"/>
              </a:ext>
            </a:extLst>
          </p:cNvPr>
          <p:cNvCxnSpPr>
            <a:stCxn id="46" idx="0"/>
            <a:endCxn id="47" idx="2"/>
          </p:cNvCxnSpPr>
          <p:nvPr/>
        </p:nvCxnSpPr>
        <p:spPr>
          <a:xfrm flipV="1">
            <a:off x="12521813" y="5736668"/>
            <a:ext cx="6350" cy="1079290"/>
          </a:xfrm>
          <a:prstGeom prst="straightConnector1">
            <a:avLst/>
          </a:prstGeom>
          <a:ln w="76200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29FDBAE8-929B-B4F7-DE8F-65E91C01F6C0}"/>
              </a:ext>
            </a:extLst>
          </p:cNvPr>
          <p:cNvSpPr/>
          <p:nvPr/>
        </p:nvSpPr>
        <p:spPr>
          <a:xfrm>
            <a:off x="11612114" y="6815958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400" b="1" i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photo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860504E-7719-24C0-850A-FE09A0360A57}"/>
              </a:ext>
            </a:extLst>
          </p:cNvPr>
          <p:cNvSpPr/>
          <p:nvPr/>
        </p:nvSpPr>
        <p:spPr>
          <a:xfrm>
            <a:off x="11618464" y="4859445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6820659-AC17-7F0F-22C3-49708746BE55}"/>
              </a:ext>
            </a:extLst>
          </p:cNvPr>
          <p:cNvSpPr/>
          <p:nvPr/>
        </p:nvSpPr>
        <p:spPr>
          <a:xfrm>
            <a:off x="11618464" y="2882906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fixation</a:t>
            </a:r>
            <a:endParaRPr lang="en-US" sz="24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7F691CE-5608-A4EF-678C-B8E070B99839}"/>
              </a:ext>
            </a:extLst>
          </p:cNvPr>
          <p:cNvSpPr/>
          <p:nvPr/>
        </p:nvSpPr>
        <p:spPr>
          <a:xfrm>
            <a:off x="19032813" y="4881930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Ν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9A51647-A19D-0B57-8FBA-FE70434DD264}"/>
              </a:ext>
            </a:extLst>
          </p:cNvPr>
          <p:cNvSpPr/>
          <p:nvPr/>
        </p:nvSpPr>
        <p:spPr>
          <a:xfrm>
            <a:off x="16755901" y="5921933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0A3E08C-77EB-A1D1-9ED6-2215975BD100}"/>
              </a:ext>
            </a:extLst>
          </p:cNvPr>
          <p:cNvSpPr/>
          <p:nvPr/>
        </p:nvSpPr>
        <p:spPr>
          <a:xfrm>
            <a:off x="16755901" y="3820635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mass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DBFFA3C-CD1A-F46F-93B1-A3843B14AD4E}"/>
              </a:ext>
            </a:extLst>
          </p:cNvPr>
          <p:cNvSpPr/>
          <p:nvPr/>
        </p:nvSpPr>
        <p:spPr>
          <a:xfrm>
            <a:off x="13842977" y="2882906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VPD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A465BDE-30CB-DD0A-7758-175E922F2521}"/>
              </a:ext>
            </a:extLst>
          </p:cNvPr>
          <p:cNvSpPr/>
          <p:nvPr/>
        </p:nvSpPr>
        <p:spPr>
          <a:xfrm>
            <a:off x="14341211" y="4848767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:C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977F76D-0FBD-8087-DBAA-54315992CD4A}"/>
              </a:ext>
            </a:extLst>
          </p:cNvPr>
          <p:cNvSpPr/>
          <p:nvPr/>
        </p:nvSpPr>
        <p:spPr>
          <a:xfrm>
            <a:off x="9153401" y="5932611"/>
            <a:ext cx="2011416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availability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E9F4384-3875-D07A-0FBD-7661C371A8AB}"/>
              </a:ext>
            </a:extLst>
          </p:cNvPr>
          <p:cNvSpPr/>
          <p:nvPr/>
        </p:nvSpPr>
        <p:spPr>
          <a:xfrm>
            <a:off x="9249410" y="3819652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Soil moisture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86CF5AAA-FDF5-26FE-58EC-373A7BD9125F}"/>
              </a:ext>
            </a:extLst>
          </p:cNvPr>
          <p:cNvSpPr txBox="1"/>
          <p:nvPr/>
        </p:nvSpPr>
        <p:spPr>
          <a:xfrm>
            <a:off x="13533413" y="5103628"/>
            <a:ext cx="479618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H2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71AC475B-C838-37A8-E0A9-2BED6CB22CCF}"/>
              </a:ext>
            </a:extLst>
          </p:cNvPr>
          <p:cNvSpPr txBox="1"/>
          <p:nvPr/>
        </p:nvSpPr>
        <p:spPr>
          <a:xfrm>
            <a:off x="10561029" y="4840933"/>
            <a:ext cx="479618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H1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4B2EF288-2533-330B-F289-11D3DF53A9E3}"/>
              </a:ext>
            </a:extLst>
          </p:cNvPr>
          <p:cNvSpPr txBox="1"/>
          <p:nvPr/>
        </p:nvSpPr>
        <p:spPr>
          <a:xfrm>
            <a:off x="18864725" y="3404862"/>
            <a:ext cx="479618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H3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A14A4B19-A9E7-ABD1-65B4-BCC6D4C86AE2}"/>
              </a:ext>
            </a:extLst>
          </p:cNvPr>
          <p:cNvSpPr txBox="1"/>
          <p:nvPr/>
        </p:nvSpPr>
        <p:spPr>
          <a:xfrm>
            <a:off x="18864725" y="6845597"/>
            <a:ext cx="479618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H3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D8D6FF3E-9BC1-6885-3818-081674D7A9BB}"/>
              </a:ext>
            </a:extLst>
          </p:cNvPr>
          <p:cNvSpPr txBox="1"/>
          <p:nvPr/>
        </p:nvSpPr>
        <p:spPr>
          <a:xfrm>
            <a:off x="6821334" y="1362220"/>
            <a:ext cx="8130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A3BBA8C7-956C-159A-EBA5-AB354F4F9504}"/>
              </a:ext>
            </a:extLst>
          </p:cNvPr>
          <p:cNvSpPr txBox="1"/>
          <p:nvPr/>
        </p:nvSpPr>
        <p:spPr>
          <a:xfrm>
            <a:off x="6821334" y="8194814"/>
            <a:ext cx="8130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</a:p>
        </p:txBody>
      </p:sp>
      <p:cxnSp>
        <p:nvCxnSpPr>
          <p:cNvPr id="159" name="Elbow Connector 158">
            <a:extLst>
              <a:ext uri="{FF2B5EF4-FFF2-40B4-BE49-F238E27FC236}">
                <a16:creationId xmlns:a16="http://schemas.microsoft.com/office/drawing/2014/main" id="{767B25D0-16A3-7396-92C8-715D66597C69}"/>
              </a:ext>
            </a:extLst>
          </p:cNvPr>
          <p:cNvCxnSpPr>
            <a:cxnSpLocks/>
          </p:cNvCxnSpPr>
          <p:nvPr/>
        </p:nvCxnSpPr>
        <p:spPr>
          <a:xfrm>
            <a:off x="10266682" y="9774814"/>
            <a:ext cx="1812963" cy="1156753"/>
          </a:xfrm>
          <a:prstGeom prst="bentConnector3">
            <a:avLst>
              <a:gd name="adj1" fmla="val 59503"/>
            </a:avLst>
          </a:prstGeom>
          <a:ln w="7112">
            <a:solidFill>
              <a:schemeClr val="bg1">
                <a:lumMod val="65000"/>
                <a:alpha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2AF15EB3-6278-8DFD-7624-DAD7F78CFEEE}"/>
              </a:ext>
            </a:extLst>
          </p:cNvPr>
          <p:cNvCxnSpPr>
            <a:cxnSpLocks/>
          </p:cNvCxnSpPr>
          <p:nvPr/>
        </p:nvCxnSpPr>
        <p:spPr>
          <a:xfrm flipH="1">
            <a:off x="12075340" y="10928855"/>
            <a:ext cx="4305" cy="811820"/>
          </a:xfrm>
          <a:prstGeom prst="straightConnector1">
            <a:avLst/>
          </a:prstGeom>
          <a:ln w="7112">
            <a:solidFill>
              <a:schemeClr val="bg1">
                <a:lumMod val="65000"/>
                <a:alpha val="5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3C33AF3-CBA8-7C36-3976-1D7F61EA9A8E}"/>
              </a:ext>
            </a:extLst>
          </p:cNvPr>
          <p:cNvGrpSpPr/>
          <p:nvPr/>
        </p:nvGrpSpPr>
        <p:grpSpPr>
          <a:xfrm>
            <a:off x="14248407" y="7053509"/>
            <a:ext cx="2561532" cy="853440"/>
            <a:chOff x="14336889" y="10167639"/>
            <a:chExt cx="2561532" cy="853440"/>
          </a:xfrm>
        </p:grpSpPr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5BC5ECCF-1D36-3A07-3254-880CF2C608FB}"/>
                </a:ext>
              </a:extLst>
            </p:cNvPr>
            <p:cNvCxnSpPr/>
            <p:nvPr/>
          </p:nvCxnSpPr>
          <p:spPr>
            <a:xfrm>
              <a:off x="14498320" y="10441446"/>
              <a:ext cx="680720" cy="0"/>
            </a:xfrm>
            <a:prstGeom prst="straightConnector1">
              <a:avLst/>
            </a:prstGeom>
            <a:ln w="76200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31C83831-0446-0835-8397-8EFDF52FC991}"/>
                </a:ext>
              </a:extLst>
            </p:cNvPr>
            <p:cNvSpPr txBox="1"/>
            <p:nvPr/>
          </p:nvSpPr>
          <p:spPr>
            <a:xfrm>
              <a:off x="15179040" y="10256780"/>
              <a:ext cx="16167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Positive effect</a:t>
              </a:r>
            </a:p>
          </p:txBody>
        </p: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68C4E9B3-A6D4-4357-6E1A-B9C2F9852D42}"/>
                </a:ext>
              </a:extLst>
            </p:cNvPr>
            <p:cNvCxnSpPr/>
            <p:nvPr/>
          </p:nvCxnSpPr>
          <p:spPr>
            <a:xfrm>
              <a:off x="14498320" y="10729878"/>
              <a:ext cx="680720" cy="0"/>
            </a:xfrm>
            <a:prstGeom prst="straightConnector1">
              <a:avLst/>
            </a:prstGeom>
            <a:ln w="76200">
              <a:solidFill>
                <a:srgbClr val="C00000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88580F84-16DB-9D98-C76F-354460E28EA1}"/>
                </a:ext>
              </a:extLst>
            </p:cNvPr>
            <p:cNvSpPr txBox="1"/>
            <p:nvPr/>
          </p:nvSpPr>
          <p:spPr>
            <a:xfrm>
              <a:off x="15179040" y="10545212"/>
              <a:ext cx="17193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Negative effect</a:t>
              </a: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EF25A1EB-5BC4-E0B7-1C89-07CAA4C653A3}"/>
                </a:ext>
              </a:extLst>
            </p:cNvPr>
            <p:cNvSpPr/>
            <p:nvPr/>
          </p:nvSpPr>
          <p:spPr>
            <a:xfrm>
              <a:off x="14336889" y="10167639"/>
              <a:ext cx="2561532" cy="85344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C7EFE26F-7F6A-1C58-17DB-D9A4DE6DA6A4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588195" y="10919370"/>
            <a:ext cx="601182" cy="1459355"/>
          </a:xfrm>
          <a:prstGeom prst="bentConnector2">
            <a:avLst/>
          </a:prstGeom>
          <a:ln w="20574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C8D84F6-E7F2-457E-C6CE-71B0F87335B1}"/>
              </a:ext>
            </a:extLst>
          </p:cNvPr>
          <p:cNvCxnSpPr>
            <a:cxnSpLocks/>
          </p:cNvCxnSpPr>
          <p:nvPr/>
        </p:nvCxnSpPr>
        <p:spPr>
          <a:xfrm>
            <a:off x="13437862" y="12179286"/>
            <a:ext cx="892510" cy="0"/>
          </a:xfrm>
          <a:prstGeom prst="straightConnector1">
            <a:avLst/>
          </a:prstGeom>
          <a:ln w="68199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071B235-6C4D-6C35-571A-EA3AE9A92167}"/>
              </a:ext>
            </a:extLst>
          </p:cNvPr>
          <p:cNvCxnSpPr>
            <a:cxnSpLocks/>
          </p:cNvCxnSpPr>
          <p:nvPr/>
        </p:nvCxnSpPr>
        <p:spPr>
          <a:xfrm>
            <a:off x="14752676" y="10674408"/>
            <a:ext cx="0" cy="1058316"/>
          </a:xfrm>
          <a:prstGeom prst="straightConnector1">
            <a:avLst/>
          </a:prstGeom>
          <a:ln w="19939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1A91E203-0108-68AF-3E35-4118D6B6B8BA}"/>
              </a:ext>
            </a:extLst>
          </p:cNvPr>
          <p:cNvCxnSpPr>
            <a:cxnSpLocks/>
            <a:endCxn id="20" idx="1"/>
          </p:cNvCxnSpPr>
          <p:nvPr/>
        </p:nvCxnSpPr>
        <p:spPr>
          <a:xfrm flipV="1">
            <a:off x="15488359" y="11151155"/>
            <a:ext cx="1267542" cy="589520"/>
          </a:xfrm>
          <a:prstGeom prst="bentConnector3">
            <a:avLst>
              <a:gd name="adj1" fmla="val -2546"/>
            </a:avLst>
          </a:prstGeom>
          <a:ln w="39624"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4B9A6050-891E-DD21-BF59-4A2C98309D21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775194" y="12109515"/>
            <a:ext cx="421944" cy="1470513"/>
          </a:xfrm>
          <a:prstGeom prst="bentConnector2">
            <a:avLst/>
          </a:prstGeom>
          <a:ln w="63119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C692133E-2952-0ECD-87D3-B8F051B6F346}"/>
              </a:ext>
            </a:extLst>
          </p:cNvPr>
          <p:cNvCxnSpPr>
            <a:cxnSpLocks/>
            <a:stCxn id="20" idx="0"/>
            <a:endCxn id="11" idx="0"/>
          </p:cNvCxnSpPr>
          <p:nvPr/>
        </p:nvCxnSpPr>
        <p:spPr>
          <a:xfrm rot="16200000" flipH="1">
            <a:off x="18273408" y="10104734"/>
            <a:ext cx="1061295" cy="2276912"/>
          </a:xfrm>
          <a:prstGeom prst="bentConnector3">
            <a:avLst>
              <a:gd name="adj1" fmla="val -21540"/>
            </a:avLst>
          </a:prstGeom>
          <a:ln w="187198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Elbow Connector 57">
            <a:extLst>
              <a:ext uri="{FF2B5EF4-FFF2-40B4-BE49-F238E27FC236}">
                <a16:creationId xmlns:a16="http://schemas.microsoft.com/office/drawing/2014/main" id="{2A6C5F73-DA31-2131-4A22-7E2D5FC27865}"/>
              </a:ext>
            </a:extLst>
          </p:cNvPr>
          <p:cNvCxnSpPr>
            <a:cxnSpLocks/>
            <a:stCxn id="17" idx="2"/>
            <a:endCxn id="11" idx="2"/>
          </p:cNvCxnSpPr>
          <p:nvPr/>
        </p:nvCxnSpPr>
        <p:spPr>
          <a:xfrm rot="5400000" flipH="1" flipV="1">
            <a:off x="18284054" y="12032607"/>
            <a:ext cx="1040003" cy="2276912"/>
          </a:xfrm>
          <a:prstGeom prst="bentConnector3">
            <a:avLst>
              <a:gd name="adj1" fmla="val -21981"/>
            </a:avLst>
          </a:prstGeom>
          <a:ln w="164719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B7BC32FF-CA01-6112-27E7-E36B0ED38566}"/>
              </a:ext>
            </a:extLst>
          </p:cNvPr>
          <p:cNvCxnSpPr>
            <a:cxnSpLocks/>
          </p:cNvCxnSpPr>
          <p:nvPr/>
        </p:nvCxnSpPr>
        <p:spPr>
          <a:xfrm flipV="1">
            <a:off x="12521813" y="12645508"/>
            <a:ext cx="6350" cy="1079290"/>
          </a:xfrm>
          <a:prstGeom prst="straightConnector1">
            <a:avLst/>
          </a:prstGeom>
          <a:ln w="174752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C3510981-FE55-509B-F5B4-9D8C4012346D}"/>
              </a:ext>
            </a:extLst>
          </p:cNvPr>
          <p:cNvSpPr/>
          <p:nvPr/>
        </p:nvSpPr>
        <p:spPr>
          <a:xfrm>
            <a:off x="11618464" y="11751353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9845BF1-920A-DFA4-A428-9653A04CD2C8}"/>
              </a:ext>
            </a:extLst>
          </p:cNvPr>
          <p:cNvSpPr/>
          <p:nvPr/>
        </p:nvSpPr>
        <p:spPr>
          <a:xfrm>
            <a:off x="11618464" y="9774814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fixation</a:t>
            </a:r>
            <a:endParaRPr lang="en-US" sz="24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2EA15D-68B8-4207-39F2-1F2B218F4B4D}"/>
              </a:ext>
            </a:extLst>
          </p:cNvPr>
          <p:cNvSpPr/>
          <p:nvPr/>
        </p:nvSpPr>
        <p:spPr>
          <a:xfrm>
            <a:off x="19032813" y="11773838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Ν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CF0D2AF-8598-6EDA-181B-6A30A35A32CE}"/>
              </a:ext>
            </a:extLst>
          </p:cNvPr>
          <p:cNvSpPr/>
          <p:nvPr/>
        </p:nvSpPr>
        <p:spPr>
          <a:xfrm>
            <a:off x="16755901" y="12813841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7FC6D2D-F10F-B106-3C23-5AEBE11DFAC5}"/>
              </a:ext>
            </a:extLst>
          </p:cNvPr>
          <p:cNvSpPr/>
          <p:nvPr/>
        </p:nvSpPr>
        <p:spPr>
          <a:xfrm>
            <a:off x="16755901" y="10712543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mass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27ADCE2-63D0-A5FF-CAAC-360272DBA0BD}"/>
              </a:ext>
            </a:extLst>
          </p:cNvPr>
          <p:cNvSpPr/>
          <p:nvPr/>
        </p:nvSpPr>
        <p:spPr>
          <a:xfrm>
            <a:off x="14341211" y="11740675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:C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6815A72-A478-F607-8624-6D6512D0A23A}"/>
              </a:ext>
            </a:extLst>
          </p:cNvPr>
          <p:cNvSpPr/>
          <p:nvPr/>
        </p:nvSpPr>
        <p:spPr>
          <a:xfrm>
            <a:off x="9153401" y="12824519"/>
            <a:ext cx="2011416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availability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947E591-BFFA-7599-D68F-6084C1444072}"/>
              </a:ext>
            </a:extLst>
          </p:cNvPr>
          <p:cNvSpPr/>
          <p:nvPr/>
        </p:nvSpPr>
        <p:spPr>
          <a:xfrm>
            <a:off x="8447284" y="9569757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clay content</a:t>
            </a:r>
            <a:endParaRPr lang="en-US" sz="24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931944-38F4-9378-6003-83D1DE15C050}"/>
              </a:ext>
            </a:extLst>
          </p:cNvPr>
          <p:cNvSpPr/>
          <p:nvPr/>
        </p:nvSpPr>
        <p:spPr>
          <a:xfrm>
            <a:off x="11612114" y="13707866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400" b="1" i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photo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2327FC8-D9F4-D197-4681-DC89C3E206D2}"/>
              </a:ext>
            </a:extLst>
          </p:cNvPr>
          <p:cNvSpPr/>
          <p:nvPr/>
        </p:nvSpPr>
        <p:spPr>
          <a:xfrm>
            <a:off x="9249410" y="10711560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Soil moisture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80C041E-0131-071A-4799-F8F798234F95}"/>
              </a:ext>
            </a:extLst>
          </p:cNvPr>
          <p:cNvSpPr/>
          <p:nvPr/>
        </p:nvSpPr>
        <p:spPr>
          <a:xfrm>
            <a:off x="13842977" y="9774814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VPD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6E415612-2CE1-257D-1E7A-DFE4E83EB874}"/>
              </a:ext>
            </a:extLst>
          </p:cNvPr>
          <p:cNvSpPr>
            <a:spLocks noChangeAspect="1"/>
          </p:cNvSpPr>
          <p:nvPr/>
        </p:nvSpPr>
        <p:spPr>
          <a:xfrm>
            <a:off x="12278782" y="4007318"/>
            <a:ext cx="486059" cy="486059"/>
          </a:xfrm>
          <a:prstGeom prst="ellipse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A61646C8-1A2D-2C32-5F90-82021DB95D40}"/>
              </a:ext>
            </a:extLst>
          </p:cNvPr>
          <p:cNvSpPr txBox="1"/>
          <p:nvPr/>
        </p:nvSpPr>
        <p:spPr>
          <a:xfrm>
            <a:off x="12285223" y="4065681"/>
            <a:ext cx="479618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H1</a:t>
            </a:r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DB649EF0-2175-7EB4-6303-619383AE8331}"/>
              </a:ext>
            </a:extLst>
          </p:cNvPr>
          <p:cNvSpPr>
            <a:spLocks noChangeAspect="1"/>
          </p:cNvSpPr>
          <p:nvPr/>
        </p:nvSpPr>
        <p:spPr>
          <a:xfrm>
            <a:off x="10563250" y="5322602"/>
            <a:ext cx="486059" cy="486059"/>
          </a:xfrm>
          <a:prstGeom prst="ellipse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DEC5290A-D483-02D4-F938-849E87645AA0}"/>
              </a:ext>
            </a:extLst>
          </p:cNvPr>
          <p:cNvSpPr txBox="1"/>
          <p:nvPr/>
        </p:nvSpPr>
        <p:spPr>
          <a:xfrm>
            <a:off x="10566742" y="5380965"/>
            <a:ext cx="479618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H1</a:t>
            </a:r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04160229-FD6A-B47D-B882-48B75E91D21B}"/>
              </a:ext>
            </a:extLst>
          </p:cNvPr>
          <p:cNvSpPr>
            <a:spLocks noChangeAspect="1"/>
          </p:cNvSpPr>
          <p:nvPr/>
        </p:nvSpPr>
        <p:spPr>
          <a:xfrm>
            <a:off x="12275290" y="6077254"/>
            <a:ext cx="486059" cy="486059"/>
          </a:xfrm>
          <a:prstGeom prst="ellipse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1DCE30B5-61F8-F6DD-5E82-BA1EA46AC39C}"/>
              </a:ext>
            </a:extLst>
          </p:cNvPr>
          <p:cNvSpPr txBox="1"/>
          <p:nvPr/>
        </p:nvSpPr>
        <p:spPr>
          <a:xfrm>
            <a:off x="12278782" y="6135617"/>
            <a:ext cx="479618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H1</a:t>
            </a:r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4CBE1731-8159-965B-09F4-DE32B5826DC7}"/>
              </a:ext>
            </a:extLst>
          </p:cNvPr>
          <p:cNvSpPr>
            <a:spLocks noChangeAspect="1"/>
          </p:cNvSpPr>
          <p:nvPr/>
        </p:nvSpPr>
        <p:spPr>
          <a:xfrm>
            <a:off x="14515463" y="4007318"/>
            <a:ext cx="486059" cy="486059"/>
          </a:xfrm>
          <a:prstGeom prst="ellipse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43035090-1B1E-5384-D575-6A2843D20688}"/>
              </a:ext>
            </a:extLst>
          </p:cNvPr>
          <p:cNvSpPr txBox="1"/>
          <p:nvPr/>
        </p:nvSpPr>
        <p:spPr>
          <a:xfrm>
            <a:off x="14518955" y="4065681"/>
            <a:ext cx="479618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H2</a:t>
            </a:r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BE4DEF69-D21B-951E-B0F5-08438C4358CB}"/>
              </a:ext>
            </a:extLst>
          </p:cNvPr>
          <p:cNvSpPr>
            <a:spLocks noChangeAspect="1"/>
          </p:cNvSpPr>
          <p:nvPr/>
        </p:nvSpPr>
        <p:spPr>
          <a:xfrm>
            <a:off x="15720983" y="4006663"/>
            <a:ext cx="486059" cy="486059"/>
          </a:xfrm>
          <a:prstGeom prst="ellipse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9DC1553E-5FFC-75AD-3FE7-92E5E1FF8017}"/>
              </a:ext>
            </a:extLst>
          </p:cNvPr>
          <p:cNvSpPr txBox="1"/>
          <p:nvPr/>
        </p:nvSpPr>
        <p:spPr>
          <a:xfrm>
            <a:off x="15724475" y="4065026"/>
            <a:ext cx="479618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H3</a:t>
            </a:r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56EFBD94-52BB-047D-E98D-E1E53CD2B919}"/>
              </a:ext>
            </a:extLst>
          </p:cNvPr>
          <p:cNvSpPr>
            <a:spLocks noChangeAspect="1"/>
          </p:cNvSpPr>
          <p:nvPr/>
        </p:nvSpPr>
        <p:spPr>
          <a:xfrm>
            <a:off x="15713980" y="6100307"/>
            <a:ext cx="486059" cy="486059"/>
          </a:xfrm>
          <a:prstGeom prst="ellipse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2B7ACEAA-BFCC-DD1A-4FBD-586B8DD3DAEA}"/>
              </a:ext>
            </a:extLst>
          </p:cNvPr>
          <p:cNvSpPr txBox="1"/>
          <p:nvPr/>
        </p:nvSpPr>
        <p:spPr>
          <a:xfrm>
            <a:off x="15717472" y="6158670"/>
            <a:ext cx="479618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H3</a:t>
            </a:r>
          </a:p>
        </p:txBody>
      </p:sp>
    </p:spTree>
    <p:extLst>
      <p:ext uri="{BB962C8B-B14F-4D97-AF65-F5344CB8AC3E}">
        <p14:creationId xmlns:p14="http://schemas.microsoft.com/office/powerpoint/2010/main" val="1353641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178CBA08-89EC-294E-0EC2-191244E430D5}"/>
              </a:ext>
            </a:extLst>
          </p:cNvPr>
          <p:cNvCxnSpPr/>
          <p:nvPr/>
        </p:nvCxnSpPr>
        <p:spPr>
          <a:xfrm>
            <a:off x="11174342" y="13461788"/>
            <a:ext cx="5556606" cy="0"/>
          </a:xfrm>
          <a:prstGeom prst="straightConnector1">
            <a:avLst/>
          </a:prstGeom>
          <a:ln w="53848">
            <a:solidFill>
              <a:srgbClr val="C00000">
                <a:alpha val="50000"/>
              </a:srgb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8FDC0034-D082-9352-93D2-19853D94A13E}"/>
              </a:ext>
            </a:extLst>
          </p:cNvPr>
          <p:cNvCxnSpPr>
            <a:cxnSpLocks/>
          </p:cNvCxnSpPr>
          <p:nvPr/>
        </p:nvCxnSpPr>
        <p:spPr>
          <a:xfrm flipV="1">
            <a:off x="12891239" y="11470506"/>
            <a:ext cx="3864664" cy="264294"/>
          </a:xfrm>
          <a:prstGeom prst="bentConnector3">
            <a:avLst>
              <a:gd name="adj1" fmla="val 50"/>
            </a:avLst>
          </a:prstGeom>
          <a:ln w="36195">
            <a:solidFill>
              <a:srgbClr val="C00000">
                <a:alpha val="50000"/>
              </a:srgb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7C00614C-0DD8-B171-CDE2-93D6B6F27D6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0662366" y="11849372"/>
            <a:ext cx="452840" cy="1459354"/>
          </a:xfrm>
          <a:prstGeom prst="bentConnector2">
            <a:avLst/>
          </a:prstGeom>
          <a:ln w="18161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C38E1C0-39FA-01E4-275A-AD658AC19E24}"/>
              </a:ext>
            </a:extLst>
          </p:cNvPr>
          <p:cNvSpPr txBox="1"/>
          <p:nvPr/>
        </p:nvSpPr>
        <p:spPr>
          <a:xfrm>
            <a:off x="298580" y="17504229"/>
            <a:ext cx="218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manuscript main text</a:t>
            </a:r>
          </a:p>
        </p:txBody>
      </p: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774FBE6D-425A-614C-E507-AC3AF7F3D74F}"/>
              </a:ext>
            </a:extLst>
          </p:cNvPr>
          <p:cNvCxnSpPr>
            <a:stCxn id="28" idx="2"/>
            <a:endCxn id="23" idx="0"/>
          </p:cNvCxnSpPr>
          <p:nvPr/>
        </p:nvCxnSpPr>
        <p:spPr>
          <a:xfrm>
            <a:off x="12528163" y="10652037"/>
            <a:ext cx="0" cy="1099316"/>
          </a:xfrm>
          <a:prstGeom prst="straightConnector1">
            <a:avLst/>
          </a:prstGeom>
          <a:ln w="24130">
            <a:solidFill>
              <a:schemeClr val="bg1">
                <a:lumMod val="5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94EF1EEE-0B30-C75D-DC46-54C3B91F6064}"/>
              </a:ext>
            </a:extLst>
          </p:cNvPr>
          <p:cNvCxnSpPr>
            <a:cxnSpLocks/>
          </p:cNvCxnSpPr>
          <p:nvPr/>
        </p:nvCxnSpPr>
        <p:spPr>
          <a:xfrm flipV="1">
            <a:off x="10112183" y="10712543"/>
            <a:ext cx="7049147" cy="2539909"/>
          </a:xfrm>
          <a:prstGeom prst="bentConnector4">
            <a:avLst>
              <a:gd name="adj1" fmla="val -15739"/>
              <a:gd name="adj2" fmla="val 146522"/>
            </a:avLst>
          </a:prstGeom>
          <a:ln w="35052">
            <a:solidFill>
              <a:schemeClr val="accent1">
                <a:lumMod val="75000"/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BFAAFA5-88A5-C2BF-2710-B812444BC53D}"/>
              </a:ext>
            </a:extLst>
          </p:cNvPr>
          <p:cNvCxnSpPr>
            <a:stCxn id="17" idx="0"/>
            <a:endCxn id="20" idx="2"/>
          </p:cNvCxnSpPr>
          <p:nvPr/>
        </p:nvCxnSpPr>
        <p:spPr>
          <a:xfrm flipV="1">
            <a:off x="17665600" y="11589766"/>
            <a:ext cx="0" cy="1224075"/>
          </a:xfrm>
          <a:prstGeom prst="straightConnector1">
            <a:avLst/>
          </a:prstGeom>
          <a:ln w="78994">
            <a:solidFill>
              <a:srgbClr val="C00000">
                <a:alpha val="50000"/>
              </a:srgb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Elbow Connector 61">
            <a:extLst>
              <a:ext uri="{FF2B5EF4-FFF2-40B4-BE49-F238E27FC236}">
                <a16:creationId xmlns:a16="http://schemas.microsoft.com/office/drawing/2014/main" id="{0E1FF755-E116-CF23-426C-5D929A3B3406}"/>
              </a:ext>
            </a:extLst>
          </p:cNvPr>
          <p:cNvCxnSpPr>
            <a:cxnSpLocks/>
          </p:cNvCxnSpPr>
          <p:nvPr/>
        </p:nvCxnSpPr>
        <p:spPr>
          <a:xfrm rot="16200000" flipH="1">
            <a:off x="14685650" y="8857626"/>
            <a:ext cx="241362" cy="3830184"/>
          </a:xfrm>
          <a:prstGeom prst="bentConnector2">
            <a:avLst/>
          </a:prstGeom>
          <a:ln w="60960">
            <a:solidFill>
              <a:schemeClr val="accent1">
                <a:lumMod val="75000"/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Elbow Connector 139">
            <a:extLst>
              <a:ext uri="{FF2B5EF4-FFF2-40B4-BE49-F238E27FC236}">
                <a16:creationId xmlns:a16="http://schemas.microsoft.com/office/drawing/2014/main" id="{3A558BCD-D36E-ACDE-13E4-D1938A2E2DCE}"/>
              </a:ext>
            </a:extLst>
          </p:cNvPr>
          <p:cNvCxnSpPr>
            <a:cxnSpLocks/>
            <a:stCxn id="12" idx="2"/>
          </p:cNvCxnSpPr>
          <p:nvPr/>
        </p:nvCxnSpPr>
        <p:spPr>
          <a:xfrm rot="5400000" flipH="1" flipV="1">
            <a:off x="14384474" y="11828403"/>
            <a:ext cx="894024" cy="4619347"/>
          </a:xfrm>
          <a:prstGeom prst="bentConnector4">
            <a:avLst>
              <a:gd name="adj1" fmla="val -25570"/>
              <a:gd name="adj2" fmla="val 99935"/>
            </a:avLst>
          </a:prstGeom>
          <a:ln w="97536">
            <a:solidFill>
              <a:srgbClr val="C00000">
                <a:alpha val="50000"/>
              </a:srgb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Elbow Connector 141">
            <a:extLst>
              <a:ext uri="{FF2B5EF4-FFF2-40B4-BE49-F238E27FC236}">
                <a16:creationId xmlns:a16="http://schemas.microsoft.com/office/drawing/2014/main" id="{43D581EE-7756-8EB7-2A0C-C9DA7CF9127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3455626" y="12644578"/>
            <a:ext cx="1356827" cy="1356354"/>
          </a:xfrm>
          <a:prstGeom prst="bentConnector3">
            <a:avLst>
              <a:gd name="adj1" fmla="val -77"/>
            </a:avLst>
          </a:prstGeom>
          <a:ln w="156210">
            <a:solidFill>
              <a:srgbClr val="C00000">
                <a:alpha val="50000"/>
              </a:srgb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lbow Connector 147">
            <a:extLst>
              <a:ext uri="{FF2B5EF4-FFF2-40B4-BE49-F238E27FC236}">
                <a16:creationId xmlns:a16="http://schemas.microsoft.com/office/drawing/2014/main" id="{EAE41966-968B-FD1C-038F-94171340CB2C}"/>
              </a:ext>
            </a:extLst>
          </p:cNvPr>
          <p:cNvCxnSpPr>
            <a:cxnSpLocks/>
          </p:cNvCxnSpPr>
          <p:nvPr/>
        </p:nvCxnSpPr>
        <p:spPr>
          <a:xfrm>
            <a:off x="11086092" y="10995025"/>
            <a:ext cx="3922766" cy="729775"/>
          </a:xfrm>
          <a:prstGeom prst="bentConnector3">
            <a:avLst>
              <a:gd name="adj1" fmla="val 100020"/>
            </a:avLst>
          </a:prstGeom>
          <a:ln w="14731">
            <a:solidFill>
              <a:srgbClr val="C00000">
                <a:alpha val="50000"/>
              </a:srgb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69A5FC4C-C100-2E69-CAD6-49962A2ADF0B}"/>
              </a:ext>
            </a:extLst>
          </p:cNvPr>
          <p:cNvCxnSpPr>
            <a:cxnSpLocks/>
          </p:cNvCxnSpPr>
          <p:nvPr/>
        </p:nvCxnSpPr>
        <p:spPr>
          <a:xfrm>
            <a:off x="9607913" y="11605241"/>
            <a:ext cx="0" cy="1200465"/>
          </a:xfrm>
          <a:prstGeom prst="straightConnector1">
            <a:avLst/>
          </a:prstGeom>
          <a:ln w="41910">
            <a:solidFill>
              <a:srgbClr val="C00000">
                <a:alpha val="50000"/>
              </a:srgb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Elbow Connector 156">
            <a:extLst>
              <a:ext uri="{FF2B5EF4-FFF2-40B4-BE49-F238E27FC236}">
                <a16:creationId xmlns:a16="http://schemas.microsoft.com/office/drawing/2014/main" id="{B4DCE2E5-AC18-51CD-AB8B-9196BF3C8A1D}"/>
              </a:ext>
            </a:extLst>
          </p:cNvPr>
          <p:cNvCxnSpPr>
            <a:cxnSpLocks/>
          </p:cNvCxnSpPr>
          <p:nvPr/>
        </p:nvCxnSpPr>
        <p:spPr>
          <a:xfrm rot="10800000" flipV="1">
            <a:off x="11086093" y="10642541"/>
            <a:ext cx="3199099" cy="650028"/>
          </a:xfrm>
          <a:prstGeom prst="bentConnector3">
            <a:avLst>
              <a:gd name="adj1" fmla="val 97"/>
            </a:avLst>
          </a:prstGeom>
          <a:ln w="142875">
            <a:solidFill>
              <a:srgbClr val="C00000">
                <a:alpha val="50000"/>
              </a:srgb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1CBBA35F-D5EB-6D5B-A513-EBEEEC5C3F7E}"/>
              </a:ext>
            </a:extLst>
          </p:cNvPr>
          <p:cNvGrpSpPr/>
          <p:nvPr/>
        </p:nvGrpSpPr>
        <p:grpSpPr>
          <a:xfrm>
            <a:off x="10456775" y="15278054"/>
            <a:ext cx="7208824" cy="1332351"/>
            <a:chOff x="9836749" y="13266385"/>
            <a:chExt cx="7208824" cy="1332351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4B04B4E5-332A-E984-B972-CBBC6F21C38D}"/>
                </a:ext>
              </a:extLst>
            </p:cNvPr>
            <p:cNvCxnSpPr>
              <a:cxnSpLocks/>
            </p:cNvCxnSpPr>
            <p:nvPr/>
          </p:nvCxnSpPr>
          <p:spPr>
            <a:xfrm>
              <a:off x="11510490" y="13425953"/>
              <a:ext cx="951115" cy="0"/>
            </a:xfrm>
            <a:prstGeom prst="line">
              <a:avLst/>
            </a:prstGeom>
            <a:ln w="952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FEC4E5AD-BED1-A279-44E3-B8009700318D}"/>
                </a:ext>
              </a:extLst>
            </p:cNvPr>
            <p:cNvCxnSpPr>
              <a:cxnSpLocks/>
            </p:cNvCxnSpPr>
            <p:nvPr/>
          </p:nvCxnSpPr>
          <p:spPr>
            <a:xfrm>
              <a:off x="10577418" y="13446974"/>
              <a:ext cx="951115" cy="0"/>
            </a:xfrm>
            <a:prstGeom prst="line">
              <a:avLst/>
            </a:prstGeom>
            <a:ln w="476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C6D9850-8AD3-50D7-ECE3-DF5285269607}"/>
                </a:ext>
              </a:extLst>
            </p:cNvPr>
            <p:cNvCxnSpPr>
              <a:cxnSpLocks/>
            </p:cNvCxnSpPr>
            <p:nvPr/>
          </p:nvCxnSpPr>
          <p:spPr>
            <a:xfrm>
              <a:off x="14349853" y="13429128"/>
              <a:ext cx="951115" cy="0"/>
            </a:xfrm>
            <a:prstGeom prst="line">
              <a:avLst/>
            </a:prstGeom>
            <a:ln w="9525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2147E1F-2B54-F20D-72B2-A7960E445E4C}"/>
                </a:ext>
              </a:extLst>
            </p:cNvPr>
            <p:cNvCxnSpPr>
              <a:cxnSpLocks/>
            </p:cNvCxnSpPr>
            <p:nvPr/>
          </p:nvCxnSpPr>
          <p:spPr>
            <a:xfrm>
              <a:off x="15297410" y="13451128"/>
              <a:ext cx="951115" cy="0"/>
            </a:xfrm>
            <a:prstGeom prst="line">
              <a:avLst/>
            </a:prstGeom>
            <a:ln w="4762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0D070EA-BEB5-E8B4-FA51-D2FB57305773}"/>
                </a:ext>
              </a:extLst>
            </p:cNvPr>
            <p:cNvSpPr txBox="1"/>
            <p:nvPr/>
          </p:nvSpPr>
          <p:spPr>
            <a:xfrm>
              <a:off x="12533923" y="13433721"/>
              <a:ext cx="790601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-0.9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FD8FA1A-C0BB-39CF-CC0F-2FA5A3F6D88D}"/>
                </a:ext>
              </a:extLst>
            </p:cNvPr>
            <p:cNvSpPr txBox="1"/>
            <p:nvPr/>
          </p:nvSpPr>
          <p:spPr>
            <a:xfrm>
              <a:off x="13540373" y="13440763"/>
              <a:ext cx="665567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0.9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CDC2DE4-5E08-8E2E-04B0-C6AD2A6A6062}"/>
                </a:ext>
              </a:extLst>
            </p:cNvPr>
            <p:cNvSpPr txBox="1"/>
            <p:nvPr/>
          </p:nvSpPr>
          <p:spPr>
            <a:xfrm>
              <a:off x="11590746" y="13440763"/>
              <a:ext cx="793807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-0.6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DA14624-84F2-0485-5185-95509C146373}"/>
                </a:ext>
              </a:extLst>
            </p:cNvPr>
            <p:cNvSpPr txBox="1"/>
            <p:nvPr/>
          </p:nvSpPr>
          <p:spPr>
            <a:xfrm>
              <a:off x="14483550" y="13444216"/>
              <a:ext cx="665567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0.6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CABC562-E1F0-120D-098A-9BF65F33AA0C}"/>
                </a:ext>
              </a:extLst>
            </p:cNvPr>
            <p:cNvSpPr txBox="1"/>
            <p:nvPr/>
          </p:nvSpPr>
          <p:spPr>
            <a:xfrm>
              <a:off x="15439734" y="13426392"/>
              <a:ext cx="665567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0.3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3556FDD-CD0D-87ED-FCE6-D08229885854}"/>
                </a:ext>
              </a:extLst>
            </p:cNvPr>
            <p:cNvSpPr txBox="1"/>
            <p:nvPr/>
          </p:nvSpPr>
          <p:spPr>
            <a:xfrm>
              <a:off x="10693986" y="13445817"/>
              <a:ext cx="793807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-0.3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C7F9FAE-9E17-59F0-73D8-3D4C347538D3}"/>
                </a:ext>
              </a:extLst>
            </p:cNvPr>
            <p:cNvSpPr txBox="1"/>
            <p:nvPr/>
          </p:nvSpPr>
          <p:spPr>
            <a:xfrm>
              <a:off x="11276323" y="14044738"/>
              <a:ext cx="4278735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Standardized Coefficient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5FE402A-3736-CAF2-4B21-20BF2CB07DA6}"/>
                </a:ext>
              </a:extLst>
            </p:cNvPr>
            <p:cNvCxnSpPr>
              <a:cxnSpLocks/>
            </p:cNvCxnSpPr>
            <p:nvPr/>
          </p:nvCxnSpPr>
          <p:spPr>
            <a:xfrm>
              <a:off x="12453667" y="13380736"/>
              <a:ext cx="951115" cy="0"/>
            </a:xfrm>
            <a:prstGeom prst="line">
              <a:avLst/>
            </a:prstGeom>
            <a:ln w="1905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C26F1A9-624E-B2F2-06E9-2C843B87C165}"/>
                </a:ext>
              </a:extLst>
            </p:cNvPr>
            <p:cNvCxnSpPr>
              <a:cxnSpLocks/>
            </p:cNvCxnSpPr>
            <p:nvPr/>
          </p:nvCxnSpPr>
          <p:spPr>
            <a:xfrm>
              <a:off x="13401607" y="13379744"/>
              <a:ext cx="951115" cy="0"/>
            </a:xfrm>
            <a:prstGeom prst="line">
              <a:avLst/>
            </a:prstGeom>
            <a:ln w="1905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E91E506-93A1-C9EC-879B-58ACF4D0F205}"/>
                </a:ext>
              </a:extLst>
            </p:cNvPr>
            <p:cNvSpPr/>
            <p:nvPr/>
          </p:nvSpPr>
          <p:spPr>
            <a:xfrm>
              <a:off x="10539776" y="13475193"/>
              <a:ext cx="5751830" cy="568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BFC2898-6803-E8CF-8F8D-4221FD1F6C25}"/>
                </a:ext>
              </a:extLst>
            </p:cNvPr>
            <p:cNvSpPr/>
            <p:nvPr/>
          </p:nvSpPr>
          <p:spPr>
            <a:xfrm>
              <a:off x="9836749" y="13470593"/>
              <a:ext cx="7010400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C5D6A6F-A15E-A8E0-EF34-7841AAE565A4}"/>
                </a:ext>
              </a:extLst>
            </p:cNvPr>
            <p:cNvSpPr/>
            <p:nvPr/>
          </p:nvSpPr>
          <p:spPr>
            <a:xfrm>
              <a:off x="10035173" y="13266385"/>
              <a:ext cx="7010400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9" name="TextBox 148">
            <a:extLst>
              <a:ext uri="{FF2B5EF4-FFF2-40B4-BE49-F238E27FC236}">
                <a16:creationId xmlns:a16="http://schemas.microsoft.com/office/drawing/2014/main" id="{D8D6FF3E-9BC1-6885-3818-081674D7A9BB}"/>
              </a:ext>
            </a:extLst>
          </p:cNvPr>
          <p:cNvSpPr txBox="1"/>
          <p:nvPr/>
        </p:nvSpPr>
        <p:spPr>
          <a:xfrm>
            <a:off x="6821334" y="1362220"/>
            <a:ext cx="8130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A3BBA8C7-956C-159A-EBA5-AB354F4F9504}"/>
              </a:ext>
            </a:extLst>
          </p:cNvPr>
          <p:cNvSpPr txBox="1"/>
          <p:nvPr/>
        </p:nvSpPr>
        <p:spPr>
          <a:xfrm>
            <a:off x="6821334" y="8194814"/>
            <a:ext cx="8130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</a:p>
        </p:txBody>
      </p: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C7EFE26F-7F6A-1C58-17DB-D9A4DE6DA6A4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588195" y="10909845"/>
            <a:ext cx="601182" cy="1459355"/>
          </a:xfrm>
          <a:prstGeom prst="bentConnector2">
            <a:avLst/>
          </a:prstGeom>
          <a:ln w="19177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C8D84F6-E7F2-457E-C6CE-71B0F87335B1}"/>
              </a:ext>
            </a:extLst>
          </p:cNvPr>
          <p:cNvCxnSpPr>
            <a:cxnSpLocks/>
          </p:cNvCxnSpPr>
          <p:nvPr/>
        </p:nvCxnSpPr>
        <p:spPr>
          <a:xfrm>
            <a:off x="13437862" y="12179286"/>
            <a:ext cx="892510" cy="0"/>
          </a:xfrm>
          <a:prstGeom prst="straightConnector1">
            <a:avLst/>
          </a:prstGeom>
          <a:ln w="66802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071B235-6C4D-6C35-571A-EA3AE9A92167}"/>
              </a:ext>
            </a:extLst>
          </p:cNvPr>
          <p:cNvCxnSpPr>
            <a:cxnSpLocks/>
          </p:cNvCxnSpPr>
          <p:nvPr/>
        </p:nvCxnSpPr>
        <p:spPr>
          <a:xfrm>
            <a:off x="14750198" y="10677683"/>
            <a:ext cx="5843" cy="1050299"/>
          </a:xfrm>
          <a:prstGeom prst="straightConnector1">
            <a:avLst/>
          </a:prstGeom>
          <a:ln w="20193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1A91E203-0108-68AF-3E35-4118D6B6B8BA}"/>
              </a:ext>
            </a:extLst>
          </p:cNvPr>
          <p:cNvCxnSpPr>
            <a:stCxn id="24" idx="0"/>
            <a:endCxn id="20" idx="1"/>
          </p:cNvCxnSpPr>
          <p:nvPr/>
        </p:nvCxnSpPr>
        <p:spPr>
          <a:xfrm rot="5400000" flipH="1" flipV="1">
            <a:off x="15708645" y="10693420"/>
            <a:ext cx="589520" cy="1504991"/>
          </a:xfrm>
          <a:prstGeom prst="bentConnector2">
            <a:avLst/>
          </a:prstGeom>
          <a:ln w="39116">
            <a:solidFill>
              <a:schemeClr val="bg1">
                <a:lumMod val="5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4B9A6050-891E-DD21-BF59-4A2C98309D21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665108" y="12182679"/>
            <a:ext cx="634555" cy="1504991"/>
          </a:xfrm>
          <a:prstGeom prst="bentConnector2">
            <a:avLst/>
          </a:prstGeom>
          <a:ln w="65532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C692133E-2952-0ECD-87D3-B8F051B6F346}"/>
              </a:ext>
            </a:extLst>
          </p:cNvPr>
          <p:cNvCxnSpPr>
            <a:cxnSpLocks/>
          </p:cNvCxnSpPr>
          <p:nvPr/>
        </p:nvCxnSpPr>
        <p:spPr>
          <a:xfrm rot="16200000" flipH="1">
            <a:off x="17842760" y="10524872"/>
            <a:ext cx="1040309" cy="1394631"/>
          </a:xfrm>
          <a:prstGeom prst="bentConnector3">
            <a:avLst>
              <a:gd name="adj1" fmla="val -21974"/>
            </a:avLst>
          </a:prstGeom>
          <a:ln w="190246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Elbow Connector 57">
            <a:extLst>
              <a:ext uri="{FF2B5EF4-FFF2-40B4-BE49-F238E27FC236}">
                <a16:creationId xmlns:a16="http://schemas.microsoft.com/office/drawing/2014/main" id="{2A6C5F73-DA31-2131-4A22-7E2D5FC2786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7832420" y="12479019"/>
            <a:ext cx="1060989" cy="1394631"/>
          </a:xfrm>
          <a:prstGeom prst="bentConnector3">
            <a:avLst>
              <a:gd name="adj1" fmla="val -21546"/>
            </a:avLst>
          </a:prstGeom>
          <a:ln w="17399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B7BC32FF-CA01-6112-27E7-E36B0ED38566}"/>
              </a:ext>
            </a:extLst>
          </p:cNvPr>
          <p:cNvCxnSpPr>
            <a:cxnSpLocks/>
          </p:cNvCxnSpPr>
          <p:nvPr/>
        </p:nvCxnSpPr>
        <p:spPr>
          <a:xfrm flipV="1">
            <a:off x="12521813" y="12644341"/>
            <a:ext cx="6350" cy="1079290"/>
          </a:xfrm>
          <a:prstGeom prst="straightConnector1">
            <a:avLst/>
          </a:prstGeom>
          <a:ln w="172847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C3510981-FE55-509B-F5B4-9D8C4012346D}"/>
              </a:ext>
            </a:extLst>
          </p:cNvPr>
          <p:cNvSpPr/>
          <p:nvPr/>
        </p:nvSpPr>
        <p:spPr>
          <a:xfrm>
            <a:off x="11618464" y="11751353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9845BF1-920A-DFA4-A428-9653A04CD2C8}"/>
              </a:ext>
            </a:extLst>
          </p:cNvPr>
          <p:cNvSpPr/>
          <p:nvPr/>
        </p:nvSpPr>
        <p:spPr>
          <a:xfrm>
            <a:off x="11618464" y="9774814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fixation</a:t>
            </a:r>
            <a:endParaRPr lang="en-US" sz="24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2EA15D-68B8-4207-39F2-1F2B218F4B4D}"/>
              </a:ext>
            </a:extLst>
          </p:cNvPr>
          <p:cNvSpPr/>
          <p:nvPr/>
        </p:nvSpPr>
        <p:spPr>
          <a:xfrm>
            <a:off x="18150532" y="11752852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Ν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CF0D2AF-8598-6EDA-181B-6A30A35A32CE}"/>
              </a:ext>
            </a:extLst>
          </p:cNvPr>
          <p:cNvSpPr/>
          <p:nvPr/>
        </p:nvSpPr>
        <p:spPr>
          <a:xfrm>
            <a:off x="16755901" y="12813841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7FC6D2D-F10F-B106-3C23-5AEBE11DFAC5}"/>
              </a:ext>
            </a:extLst>
          </p:cNvPr>
          <p:cNvSpPr/>
          <p:nvPr/>
        </p:nvSpPr>
        <p:spPr>
          <a:xfrm>
            <a:off x="16755901" y="10712543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mass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27ADCE2-63D0-A5FF-CAAC-360272DBA0BD}"/>
              </a:ext>
            </a:extLst>
          </p:cNvPr>
          <p:cNvSpPr/>
          <p:nvPr/>
        </p:nvSpPr>
        <p:spPr>
          <a:xfrm>
            <a:off x="14341211" y="11740675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:C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6815A72-A478-F607-8624-6D6512D0A23A}"/>
              </a:ext>
            </a:extLst>
          </p:cNvPr>
          <p:cNvSpPr/>
          <p:nvPr/>
        </p:nvSpPr>
        <p:spPr>
          <a:xfrm>
            <a:off x="9153401" y="12824519"/>
            <a:ext cx="2011416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availability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2327FC8-D9F4-D197-4681-DC89C3E206D2}"/>
              </a:ext>
            </a:extLst>
          </p:cNvPr>
          <p:cNvSpPr/>
          <p:nvPr/>
        </p:nvSpPr>
        <p:spPr>
          <a:xfrm>
            <a:off x="9249410" y="10711560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Soil moisture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80C041E-0131-071A-4799-F8F798234F95}"/>
              </a:ext>
            </a:extLst>
          </p:cNvPr>
          <p:cNvSpPr/>
          <p:nvPr/>
        </p:nvSpPr>
        <p:spPr>
          <a:xfrm>
            <a:off x="13842977" y="9774814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VPD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93773D16-A7A4-9E1C-BC15-9019F70CFB52}"/>
              </a:ext>
            </a:extLst>
          </p:cNvPr>
          <p:cNvCxnSpPr>
            <a:cxnSpLocks/>
            <a:stCxn id="171" idx="2"/>
            <a:endCxn id="163" idx="0"/>
          </p:cNvCxnSpPr>
          <p:nvPr/>
        </p:nvCxnSpPr>
        <p:spPr>
          <a:xfrm rot="16200000" flipH="1">
            <a:off x="11979748" y="4311030"/>
            <a:ext cx="1093654" cy="3175"/>
          </a:xfrm>
          <a:prstGeom prst="bentConnector3">
            <a:avLst>
              <a:gd name="adj1" fmla="val 50000"/>
            </a:avLst>
          </a:prstGeom>
          <a:ln w="762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F37F5FA4-FCE3-53AF-173E-69C602BFDE00}"/>
              </a:ext>
            </a:extLst>
          </p:cNvPr>
          <p:cNvCxnSpPr>
            <a:cxnSpLocks/>
          </p:cNvCxnSpPr>
          <p:nvPr/>
        </p:nvCxnSpPr>
        <p:spPr>
          <a:xfrm>
            <a:off x="13437862" y="5287378"/>
            <a:ext cx="892510" cy="0"/>
          </a:xfrm>
          <a:prstGeom prst="straightConnector1">
            <a:avLst/>
          </a:prstGeom>
          <a:ln w="762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708FD72B-182D-1852-C4AC-62AC97690E87}"/>
              </a:ext>
            </a:extLst>
          </p:cNvPr>
          <p:cNvCxnSpPr>
            <a:cxnSpLocks/>
          </p:cNvCxnSpPr>
          <p:nvPr/>
        </p:nvCxnSpPr>
        <p:spPr>
          <a:xfrm>
            <a:off x="14752676" y="3750696"/>
            <a:ext cx="0" cy="1098071"/>
          </a:xfrm>
          <a:prstGeom prst="straightConnector1">
            <a:avLst/>
          </a:prstGeom>
          <a:ln w="76200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Elbow Connector 152">
            <a:extLst>
              <a:ext uri="{FF2B5EF4-FFF2-40B4-BE49-F238E27FC236}">
                <a16:creationId xmlns:a16="http://schemas.microsoft.com/office/drawing/2014/main" id="{75BA9AF0-DB33-8B83-AE5B-FA15682817E4}"/>
              </a:ext>
            </a:extLst>
          </p:cNvPr>
          <p:cNvCxnSpPr>
            <a:stCxn id="170" idx="0"/>
            <a:endCxn id="167" idx="1"/>
          </p:cNvCxnSpPr>
          <p:nvPr/>
        </p:nvCxnSpPr>
        <p:spPr>
          <a:xfrm rot="5400000" flipH="1" flipV="1">
            <a:off x="15708645" y="3801512"/>
            <a:ext cx="589520" cy="1504991"/>
          </a:xfrm>
          <a:prstGeom prst="bentConnector2">
            <a:avLst/>
          </a:prstGeom>
          <a:ln w="76200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lbow Connector 153">
            <a:extLst>
              <a:ext uri="{FF2B5EF4-FFF2-40B4-BE49-F238E27FC236}">
                <a16:creationId xmlns:a16="http://schemas.microsoft.com/office/drawing/2014/main" id="{2C891C58-29DD-E49F-C8DC-72B0A46FC261}"/>
              </a:ext>
            </a:extLst>
          </p:cNvPr>
          <p:cNvCxnSpPr>
            <a:cxnSpLocks/>
            <a:stCxn id="170" idx="2"/>
            <a:endCxn id="166" idx="1"/>
          </p:cNvCxnSpPr>
          <p:nvPr/>
        </p:nvCxnSpPr>
        <p:spPr>
          <a:xfrm rot="16200000" flipH="1">
            <a:off x="15686128" y="5290771"/>
            <a:ext cx="634555" cy="1504991"/>
          </a:xfrm>
          <a:prstGeom prst="bentConnector2">
            <a:avLst/>
          </a:prstGeom>
          <a:ln w="76200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lbow Connector 154">
            <a:extLst>
              <a:ext uri="{FF2B5EF4-FFF2-40B4-BE49-F238E27FC236}">
                <a16:creationId xmlns:a16="http://schemas.microsoft.com/office/drawing/2014/main" id="{FB07FB16-48F2-0383-63DF-758619D9AA23}"/>
              </a:ext>
            </a:extLst>
          </p:cNvPr>
          <p:cNvCxnSpPr>
            <a:cxnSpLocks/>
            <a:stCxn id="167" idx="0"/>
            <a:endCxn id="165" idx="0"/>
          </p:cNvCxnSpPr>
          <p:nvPr/>
        </p:nvCxnSpPr>
        <p:spPr>
          <a:xfrm rot="16200000" flipH="1">
            <a:off x="18273408" y="3212826"/>
            <a:ext cx="1061295" cy="2276912"/>
          </a:xfrm>
          <a:prstGeom prst="bentConnector3">
            <a:avLst>
              <a:gd name="adj1" fmla="val -21540"/>
            </a:avLst>
          </a:prstGeom>
          <a:ln w="762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Elbow Connector 155">
            <a:extLst>
              <a:ext uri="{FF2B5EF4-FFF2-40B4-BE49-F238E27FC236}">
                <a16:creationId xmlns:a16="http://schemas.microsoft.com/office/drawing/2014/main" id="{DE448E4C-65BB-DEE6-C2CC-3521524ABF3B}"/>
              </a:ext>
            </a:extLst>
          </p:cNvPr>
          <p:cNvCxnSpPr>
            <a:cxnSpLocks/>
            <a:stCxn id="166" idx="2"/>
            <a:endCxn id="165" idx="2"/>
          </p:cNvCxnSpPr>
          <p:nvPr/>
        </p:nvCxnSpPr>
        <p:spPr>
          <a:xfrm rot="5400000" flipH="1" flipV="1">
            <a:off x="18284054" y="5140699"/>
            <a:ext cx="1040003" cy="2276912"/>
          </a:xfrm>
          <a:prstGeom prst="bentConnector3">
            <a:avLst>
              <a:gd name="adj1" fmla="val -21981"/>
            </a:avLst>
          </a:prstGeom>
          <a:ln w="762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6B892F48-C8C6-6A4A-E886-10C138C62892}"/>
              </a:ext>
            </a:extLst>
          </p:cNvPr>
          <p:cNvCxnSpPr>
            <a:stCxn id="162" idx="0"/>
            <a:endCxn id="163" idx="2"/>
          </p:cNvCxnSpPr>
          <p:nvPr/>
        </p:nvCxnSpPr>
        <p:spPr>
          <a:xfrm flipV="1">
            <a:off x="12521813" y="5736668"/>
            <a:ext cx="6350" cy="1079290"/>
          </a:xfrm>
          <a:prstGeom prst="straightConnector1">
            <a:avLst/>
          </a:prstGeom>
          <a:ln w="76200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Rectangle 161">
            <a:extLst>
              <a:ext uri="{FF2B5EF4-FFF2-40B4-BE49-F238E27FC236}">
                <a16:creationId xmlns:a16="http://schemas.microsoft.com/office/drawing/2014/main" id="{79D21678-870B-6E2D-D0DD-DDB73D33C236}"/>
              </a:ext>
            </a:extLst>
          </p:cNvPr>
          <p:cNvSpPr/>
          <p:nvPr/>
        </p:nvSpPr>
        <p:spPr>
          <a:xfrm>
            <a:off x="11612114" y="6815958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400" b="1" i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photo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0C5B1774-A929-BAB1-B05A-E174EFFE9B41}"/>
              </a:ext>
            </a:extLst>
          </p:cNvPr>
          <p:cNvSpPr/>
          <p:nvPr/>
        </p:nvSpPr>
        <p:spPr>
          <a:xfrm>
            <a:off x="11618464" y="4859445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A8C4031F-AC9A-D9F2-7A1E-5D1AF9B18989}"/>
              </a:ext>
            </a:extLst>
          </p:cNvPr>
          <p:cNvSpPr/>
          <p:nvPr/>
        </p:nvSpPr>
        <p:spPr>
          <a:xfrm>
            <a:off x="19032813" y="4881930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Ν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725ADC28-54D7-CEE1-FC6D-8F665DC694C0}"/>
              </a:ext>
            </a:extLst>
          </p:cNvPr>
          <p:cNvSpPr/>
          <p:nvPr/>
        </p:nvSpPr>
        <p:spPr>
          <a:xfrm>
            <a:off x="16755901" y="5921933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511EF347-A359-440B-B837-C0EC773C7DB8}"/>
              </a:ext>
            </a:extLst>
          </p:cNvPr>
          <p:cNvSpPr/>
          <p:nvPr/>
        </p:nvSpPr>
        <p:spPr>
          <a:xfrm>
            <a:off x="16755901" y="3820635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mass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835BAB16-C2F7-2715-9782-7093EE52161C}"/>
              </a:ext>
            </a:extLst>
          </p:cNvPr>
          <p:cNvSpPr/>
          <p:nvPr/>
        </p:nvSpPr>
        <p:spPr>
          <a:xfrm>
            <a:off x="13842977" y="2882906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VPD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FD1A4BF9-B304-6274-42AB-32FA0114F3EC}"/>
              </a:ext>
            </a:extLst>
          </p:cNvPr>
          <p:cNvSpPr/>
          <p:nvPr/>
        </p:nvSpPr>
        <p:spPr>
          <a:xfrm>
            <a:off x="14341211" y="4848767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Leaf C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:C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6CAD8A43-B8F0-AAA1-81A3-C47D55AAD42F}"/>
              </a:ext>
            </a:extLst>
          </p:cNvPr>
          <p:cNvSpPr/>
          <p:nvPr/>
        </p:nvSpPr>
        <p:spPr>
          <a:xfrm>
            <a:off x="11612114" y="2888568"/>
            <a:ext cx="182574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Soil moisture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8D3E0A0D-0DFA-9B76-4E85-9D8343379A96}"/>
              </a:ext>
            </a:extLst>
          </p:cNvPr>
          <p:cNvSpPr txBox="1"/>
          <p:nvPr/>
        </p:nvSpPr>
        <p:spPr>
          <a:xfrm>
            <a:off x="13533413" y="5103628"/>
            <a:ext cx="479618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H2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83CEF593-BD18-779C-EA16-3FF4A84134EF}"/>
              </a:ext>
            </a:extLst>
          </p:cNvPr>
          <p:cNvSpPr txBox="1"/>
          <p:nvPr/>
        </p:nvSpPr>
        <p:spPr>
          <a:xfrm>
            <a:off x="12294704" y="4074580"/>
            <a:ext cx="479618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H1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356640CB-1F0A-0103-3E61-714ADB8612EE}"/>
              </a:ext>
            </a:extLst>
          </p:cNvPr>
          <p:cNvSpPr txBox="1"/>
          <p:nvPr/>
        </p:nvSpPr>
        <p:spPr>
          <a:xfrm>
            <a:off x="18864725" y="3404862"/>
            <a:ext cx="479618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H3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979A7756-3595-6AD3-4FC1-B0DFEF1D96A6}"/>
              </a:ext>
            </a:extLst>
          </p:cNvPr>
          <p:cNvSpPr txBox="1"/>
          <p:nvPr/>
        </p:nvSpPr>
        <p:spPr>
          <a:xfrm>
            <a:off x="18864725" y="6845597"/>
            <a:ext cx="479618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H3</a:t>
            </a:r>
          </a:p>
        </p:txBody>
      </p: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50A2EFEC-1F00-282F-EF57-E586F4E4A6C5}"/>
              </a:ext>
            </a:extLst>
          </p:cNvPr>
          <p:cNvGrpSpPr/>
          <p:nvPr/>
        </p:nvGrpSpPr>
        <p:grpSpPr>
          <a:xfrm>
            <a:off x="14248407" y="7053509"/>
            <a:ext cx="2561532" cy="853440"/>
            <a:chOff x="14336889" y="10167639"/>
            <a:chExt cx="2561532" cy="853440"/>
          </a:xfrm>
        </p:grpSpPr>
        <p:cxnSp>
          <p:nvCxnSpPr>
            <p:cNvPr id="178" name="Straight Arrow Connector 177">
              <a:extLst>
                <a:ext uri="{FF2B5EF4-FFF2-40B4-BE49-F238E27FC236}">
                  <a16:creationId xmlns:a16="http://schemas.microsoft.com/office/drawing/2014/main" id="{706B4CB6-85CC-D8B1-8A08-FD03090C5E51}"/>
                </a:ext>
              </a:extLst>
            </p:cNvPr>
            <p:cNvCxnSpPr/>
            <p:nvPr/>
          </p:nvCxnSpPr>
          <p:spPr>
            <a:xfrm>
              <a:off x="14498320" y="10441446"/>
              <a:ext cx="680720" cy="0"/>
            </a:xfrm>
            <a:prstGeom prst="straightConnector1">
              <a:avLst/>
            </a:prstGeom>
            <a:ln w="76200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82617127-1DE6-B2EC-ADA5-33AA0094252A}"/>
                </a:ext>
              </a:extLst>
            </p:cNvPr>
            <p:cNvSpPr txBox="1"/>
            <p:nvPr/>
          </p:nvSpPr>
          <p:spPr>
            <a:xfrm>
              <a:off x="15179040" y="10256780"/>
              <a:ext cx="16167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Positive effect</a:t>
              </a:r>
            </a:p>
          </p:txBody>
        </p:sp>
        <p:cxnSp>
          <p:nvCxnSpPr>
            <p:cNvPr id="180" name="Straight Arrow Connector 179">
              <a:extLst>
                <a:ext uri="{FF2B5EF4-FFF2-40B4-BE49-F238E27FC236}">
                  <a16:creationId xmlns:a16="http://schemas.microsoft.com/office/drawing/2014/main" id="{4F5B8043-2A97-CDCE-E82D-3DDB1283DC8A}"/>
                </a:ext>
              </a:extLst>
            </p:cNvPr>
            <p:cNvCxnSpPr/>
            <p:nvPr/>
          </p:nvCxnSpPr>
          <p:spPr>
            <a:xfrm>
              <a:off x="14498320" y="10729878"/>
              <a:ext cx="680720" cy="0"/>
            </a:xfrm>
            <a:prstGeom prst="straightConnector1">
              <a:avLst/>
            </a:prstGeom>
            <a:ln w="76200">
              <a:solidFill>
                <a:srgbClr val="C00000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2FEBB8C8-1F20-D8A9-5126-685ACE0C390F}"/>
                </a:ext>
              </a:extLst>
            </p:cNvPr>
            <p:cNvSpPr txBox="1"/>
            <p:nvPr/>
          </p:nvSpPr>
          <p:spPr>
            <a:xfrm>
              <a:off x="15179040" y="10545212"/>
              <a:ext cx="17193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Negative effect</a:t>
              </a:r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31E9E510-78F9-3CCA-8BC5-DC2CA3162347}"/>
                </a:ext>
              </a:extLst>
            </p:cNvPr>
            <p:cNvSpPr/>
            <p:nvPr/>
          </p:nvSpPr>
          <p:spPr>
            <a:xfrm>
              <a:off x="14336889" y="10167639"/>
              <a:ext cx="2561532" cy="85344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7" name="Oval 186">
            <a:extLst>
              <a:ext uri="{FF2B5EF4-FFF2-40B4-BE49-F238E27FC236}">
                <a16:creationId xmlns:a16="http://schemas.microsoft.com/office/drawing/2014/main" id="{038A42CC-9D71-75DF-8030-595C2B1C7536}"/>
              </a:ext>
            </a:extLst>
          </p:cNvPr>
          <p:cNvSpPr>
            <a:spLocks noChangeAspect="1"/>
          </p:cNvSpPr>
          <p:nvPr/>
        </p:nvSpPr>
        <p:spPr>
          <a:xfrm>
            <a:off x="12284062" y="6093583"/>
            <a:ext cx="486059" cy="486059"/>
          </a:xfrm>
          <a:prstGeom prst="ellipse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7E92C635-679B-ABE6-8A67-9EEF43E56281}"/>
              </a:ext>
            </a:extLst>
          </p:cNvPr>
          <p:cNvSpPr txBox="1"/>
          <p:nvPr/>
        </p:nvSpPr>
        <p:spPr>
          <a:xfrm>
            <a:off x="12312296" y="6135695"/>
            <a:ext cx="479618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H1</a:t>
            </a:r>
          </a:p>
        </p:txBody>
      </p:sp>
      <p:sp>
        <p:nvSpPr>
          <p:cNvPr id="189" name="Oval 188">
            <a:extLst>
              <a:ext uri="{FF2B5EF4-FFF2-40B4-BE49-F238E27FC236}">
                <a16:creationId xmlns:a16="http://schemas.microsoft.com/office/drawing/2014/main" id="{89D61A4C-7730-2089-4036-1D56AAECD389}"/>
              </a:ext>
            </a:extLst>
          </p:cNvPr>
          <p:cNvSpPr>
            <a:spLocks noChangeAspect="1"/>
          </p:cNvSpPr>
          <p:nvPr/>
        </p:nvSpPr>
        <p:spPr>
          <a:xfrm>
            <a:off x="14515463" y="4007318"/>
            <a:ext cx="486059" cy="486059"/>
          </a:xfrm>
          <a:prstGeom prst="ellipse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3DB2B6AE-0B57-3839-0492-852F9192C13A}"/>
              </a:ext>
            </a:extLst>
          </p:cNvPr>
          <p:cNvSpPr txBox="1"/>
          <p:nvPr/>
        </p:nvSpPr>
        <p:spPr>
          <a:xfrm>
            <a:off x="14518955" y="4065681"/>
            <a:ext cx="479618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H2</a:t>
            </a:r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4D3C0917-54AC-502F-006B-EC94186BD315}"/>
              </a:ext>
            </a:extLst>
          </p:cNvPr>
          <p:cNvSpPr>
            <a:spLocks noChangeAspect="1"/>
          </p:cNvSpPr>
          <p:nvPr/>
        </p:nvSpPr>
        <p:spPr>
          <a:xfrm>
            <a:off x="15720983" y="4006663"/>
            <a:ext cx="486059" cy="486059"/>
          </a:xfrm>
          <a:prstGeom prst="ellipse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3FC38C7F-30D2-7B34-629D-12B4020CBE36}"/>
              </a:ext>
            </a:extLst>
          </p:cNvPr>
          <p:cNvSpPr txBox="1"/>
          <p:nvPr/>
        </p:nvSpPr>
        <p:spPr>
          <a:xfrm>
            <a:off x="15724475" y="4065026"/>
            <a:ext cx="479618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H3</a:t>
            </a:r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666B9ECB-18F0-AAAF-7606-00E223125031}"/>
              </a:ext>
            </a:extLst>
          </p:cNvPr>
          <p:cNvSpPr>
            <a:spLocks noChangeAspect="1"/>
          </p:cNvSpPr>
          <p:nvPr/>
        </p:nvSpPr>
        <p:spPr>
          <a:xfrm>
            <a:off x="15713980" y="6100307"/>
            <a:ext cx="486059" cy="486059"/>
          </a:xfrm>
          <a:prstGeom prst="ellipse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6D3A4488-32A5-CC14-6C03-CFC6E1696E96}"/>
              </a:ext>
            </a:extLst>
          </p:cNvPr>
          <p:cNvSpPr txBox="1"/>
          <p:nvPr/>
        </p:nvSpPr>
        <p:spPr>
          <a:xfrm>
            <a:off x="15717472" y="6158670"/>
            <a:ext cx="479618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H3</a:t>
            </a:r>
          </a:p>
        </p:txBody>
      </p:sp>
      <p:cxnSp>
        <p:nvCxnSpPr>
          <p:cNvPr id="210" name="Elbow Connector 209">
            <a:extLst>
              <a:ext uri="{FF2B5EF4-FFF2-40B4-BE49-F238E27FC236}">
                <a16:creationId xmlns:a16="http://schemas.microsoft.com/office/drawing/2014/main" id="{581E0BD0-E020-D10C-A647-A9EF9EA1921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5437298" y="12519460"/>
            <a:ext cx="2700342" cy="874977"/>
          </a:xfrm>
          <a:prstGeom prst="bentConnector3">
            <a:avLst>
              <a:gd name="adj1" fmla="val 77396"/>
            </a:avLst>
          </a:prstGeom>
          <a:ln w="79883">
            <a:solidFill>
              <a:srgbClr val="C0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9CCF01B1-6210-06D7-A848-78EABA0376B4}"/>
              </a:ext>
            </a:extLst>
          </p:cNvPr>
          <p:cNvCxnSpPr>
            <a:cxnSpLocks/>
          </p:cNvCxnSpPr>
          <p:nvPr/>
        </p:nvCxnSpPr>
        <p:spPr>
          <a:xfrm>
            <a:off x="13453156" y="14396227"/>
            <a:ext cx="2939387" cy="0"/>
          </a:xfrm>
          <a:prstGeom prst="line">
            <a:avLst/>
          </a:prstGeom>
          <a:ln w="79883">
            <a:solidFill>
              <a:srgbClr val="C00000">
                <a:alpha val="50000"/>
              </a:srgb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80931944-38F4-9378-6003-83D1DE15C050}"/>
              </a:ext>
            </a:extLst>
          </p:cNvPr>
          <p:cNvSpPr/>
          <p:nvPr/>
        </p:nvSpPr>
        <p:spPr>
          <a:xfrm>
            <a:off x="11612114" y="13707866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400" b="1" i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photo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7FD0BF0-1A4B-63C8-5B57-CF182915AB5D}"/>
              </a:ext>
            </a:extLst>
          </p:cNvPr>
          <p:cNvCxnSpPr>
            <a:stCxn id="30" idx="3"/>
            <a:endCxn id="163" idx="1"/>
          </p:cNvCxnSpPr>
          <p:nvPr/>
        </p:nvCxnSpPr>
        <p:spPr>
          <a:xfrm>
            <a:off x="10721525" y="5292349"/>
            <a:ext cx="896939" cy="5708"/>
          </a:xfrm>
          <a:prstGeom prst="straightConnector1">
            <a:avLst/>
          </a:prstGeom>
          <a:ln w="76200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E97EA6A1-86BE-24F6-42D0-3C22C3C5C7AA}"/>
              </a:ext>
            </a:extLst>
          </p:cNvPr>
          <p:cNvSpPr/>
          <p:nvPr/>
        </p:nvSpPr>
        <p:spPr>
          <a:xfrm>
            <a:off x="8710109" y="4853737"/>
            <a:ext cx="2011416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availability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7F7183B4-F0DA-CCB8-F6F2-CEF46D61B5E4}"/>
              </a:ext>
            </a:extLst>
          </p:cNvPr>
          <p:cNvSpPr>
            <a:spLocks noChangeAspect="1"/>
          </p:cNvSpPr>
          <p:nvPr/>
        </p:nvSpPr>
        <p:spPr>
          <a:xfrm>
            <a:off x="10866884" y="5052173"/>
            <a:ext cx="486059" cy="486059"/>
          </a:xfrm>
          <a:prstGeom prst="ellipse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E8BB0001-B044-E332-C992-5BD5B39CCCD7}"/>
              </a:ext>
            </a:extLst>
          </p:cNvPr>
          <p:cNvSpPr txBox="1"/>
          <p:nvPr/>
        </p:nvSpPr>
        <p:spPr>
          <a:xfrm>
            <a:off x="10884164" y="5110536"/>
            <a:ext cx="479618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H1</a:t>
            </a:r>
          </a:p>
        </p:txBody>
      </p:sp>
    </p:spTree>
    <p:extLst>
      <p:ext uri="{BB962C8B-B14F-4D97-AF65-F5344CB8AC3E}">
        <p14:creationId xmlns:p14="http://schemas.microsoft.com/office/powerpoint/2010/main" val="993560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4FFA470-1799-B77E-AF44-206EB76B33E4}"/>
              </a:ext>
            </a:extLst>
          </p:cNvPr>
          <p:cNvCxnSpPr>
            <a:cxnSpLocks/>
          </p:cNvCxnSpPr>
          <p:nvPr/>
        </p:nvCxnSpPr>
        <p:spPr>
          <a:xfrm>
            <a:off x="16971420" y="16761203"/>
            <a:ext cx="0" cy="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Rectangle 108">
            <a:extLst>
              <a:ext uri="{FF2B5EF4-FFF2-40B4-BE49-F238E27FC236}">
                <a16:creationId xmlns:a16="http://schemas.microsoft.com/office/drawing/2014/main" id="{329F035C-4D18-5580-A433-91BE2A587572}"/>
              </a:ext>
            </a:extLst>
          </p:cNvPr>
          <p:cNvSpPr/>
          <p:nvPr/>
        </p:nvSpPr>
        <p:spPr>
          <a:xfrm>
            <a:off x="6986016" y="1298448"/>
            <a:ext cx="14356080" cy="6638544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0FAB126E-B012-272D-07D0-F42A896DBEA0}"/>
              </a:ext>
            </a:extLst>
          </p:cNvPr>
          <p:cNvCxnSpPr>
            <a:cxnSpLocks/>
          </p:cNvCxnSpPr>
          <p:nvPr/>
        </p:nvCxnSpPr>
        <p:spPr>
          <a:xfrm flipV="1">
            <a:off x="10007724" y="5357009"/>
            <a:ext cx="1459355" cy="430652"/>
          </a:xfrm>
          <a:prstGeom prst="bentConnector3">
            <a:avLst>
              <a:gd name="adj1" fmla="val -11"/>
            </a:avLst>
          </a:prstGeom>
          <a:ln w="24892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9FDF41D-BCF1-213D-5397-9DD4D2C197AB}"/>
              </a:ext>
            </a:extLst>
          </p:cNvPr>
          <p:cNvCxnSpPr>
            <a:cxnSpLocks/>
          </p:cNvCxnSpPr>
          <p:nvPr/>
        </p:nvCxnSpPr>
        <p:spPr>
          <a:xfrm>
            <a:off x="13286478" y="5164616"/>
            <a:ext cx="892510" cy="0"/>
          </a:xfrm>
          <a:prstGeom prst="straightConnector1">
            <a:avLst/>
          </a:prstGeom>
          <a:ln w="16954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C696923E-50EB-BA53-D891-C250948F030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5548873" y="3656508"/>
            <a:ext cx="606296" cy="1504990"/>
          </a:xfrm>
          <a:prstGeom prst="bentConnector2">
            <a:avLst/>
          </a:prstGeom>
          <a:ln w="25526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FD849C8A-3D38-3899-BD16-F597B831ABF1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534744" y="5184051"/>
            <a:ext cx="634555" cy="1504991"/>
          </a:xfrm>
          <a:prstGeom prst="bentConnector2">
            <a:avLst/>
          </a:prstGeom>
          <a:ln w="36068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073E3213-F187-8E8D-5545-71CA2A9BD654}"/>
              </a:ext>
            </a:extLst>
          </p:cNvPr>
          <p:cNvCxnSpPr>
            <a:cxnSpLocks/>
            <a:stCxn id="19" idx="0"/>
            <a:endCxn id="17" idx="0"/>
          </p:cNvCxnSpPr>
          <p:nvPr/>
        </p:nvCxnSpPr>
        <p:spPr>
          <a:xfrm rot="16200000" flipH="1">
            <a:off x="18122024" y="3090064"/>
            <a:ext cx="1061295" cy="2276912"/>
          </a:xfrm>
          <a:prstGeom prst="bentConnector3">
            <a:avLst>
              <a:gd name="adj1" fmla="val -21540"/>
            </a:avLst>
          </a:prstGeom>
          <a:ln w="2159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B822710A-1E72-1FC2-A223-51CD781B9BAA}"/>
              </a:ext>
            </a:extLst>
          </p:cNvPr>
          <p:cNvCxnSpPr>
            <a:cxnSpLocks/>
            <a:stCxn id="18" idx="2"/>
            <a:endCxn id="17" idx="2"/>
          </p:cNvCxnSpPr>
          <p:nvPr/>
        </p:nvCxnSpPr>
        <p:spPr>
          <a:xfrm rot="5400000" flipH="1" flipV="1">
            <a:off x="18132670" y="5017937"/>
            <a:ext cx="1040003" cy="2276912"/>
          </a:xfrm>
          <a:prstGeom prst="bentConnector3">
            <a:avLst>
              <a:gd name="adj1" fmla="val -21981"/>
            </a:avLst>
          </a:prstGeom>
          <a:ln w="22034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0D5D5B44-B633-6071-2B98-38E36FCBF868}"/>
              </a:ext>
            </a:extLst>
          </p:cNvPr>
          <p:cNvSpPr/>
          <p:nvPr/>
        </p:nvSpPr>
        <p:spPr>
          <a:xfrm>
            <a:off x="11467080" y="4736683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3070DD-32AC-E55E-527E-1AB717A872FF}"/>
              </a:ext>
            </a:extLst>
          </p:cNvPr>
          <p:cNvSpPr/>
          <p:nvPr/>
        </p:nvSpPr>
        <p:spPr>
          <a:xfrm>
            <a:off x="18881429" y="4759168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Ν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C356DB7C-DF9F-DB38-6B2D-5BB53512B12F}"/>
              </a:ext>
            </a:extLst>
          </p:cNvPr>
          <p:cNvCxnSpPr>
            <a:cxnSpLocks/>
            <a:stCxn id="20" idx="1"/>
            <a:endCxn id="23" idx="0"/>
          </p:cNvCxnSpPr>
          <p:nvPr/>
        </p:nvCxnSpPr>
        <p:spPr>
          <a:xfrm rot="10800000" flipV="1">
            <a:off x="10007726" y="2715572"/>
            <a:ext cx="1459355" cy="981318"/>
          </a:xfrm>
          <a:prstGeom prst="bentConnector2">
            <a:avLst/>
          </a:prstGeom>
          <a:ln w="141097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C0DBAA1-8F74-BC47-EC65-C7481BEF127E}"/>
              </a:ext>
            </a:extLst>
          </p:cNvPr>
          <p:cNvCxnSpPr>
            <a:cxnSpLocks/>
          </p:cNvCxnSpPr>
          <p:nvPr/>
        </p:nvCxnSpPr>
        <p:spPr>
          <a:xfrm flipV="1">
            <a:off x="11013433" y="6511433"/>
            <a:ext cx="5591084" cy="10678"/>
          </a:xfrm>
          <a:prstGeom prst="straightConnector1">
            <a:avLst/>
          </a:prstGeom>
          <a:ln w="67818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E083A1D3-A2EF-53DD-DC66-2677BF589808}"/>
              </a:ext>
            </a:extLst>
          </p:cNvPr>
          <p:cNvCxnSpPr>
            <a:cxnSpLocks/>
          </p:cNvCxnSpPr>
          <p:nvPr/>
        </p:nvCxnSpPr>
        <p:spPr>
          <a:xfrm flipV="1">
            <a:off x="9599070" y="3697873"/>
            <a:ext cx="7654848" cy="2550587"/>
          </a:xfrm>
          <a:prstGeom prst="bentConnector4">
            <a:avLst>
              <a:gd name="adj1" fmla="val -15756"/>
              <a:gd name="adj2" fmla="val 161224"/>
            </a:avLst>
          </a:prstGeom>
          <a:ln w="47879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3628077-500F-68E2-AC9C-F9037DEC9D52}"/>
              </a:ext>
            </a:extLst>
          </p:cNvPr>
          <p:cNvCxnSpPr>
            <a:stCxn id="18" idx="0"/>
            <a:endCxn id="19" idx="2"/>
          </p:cNvCxnSpPr>
          <p:nvPr/>
        </p:nvCxnSpPr>
        <p:spPr>
          <a:xfrm flipV="1">
            <a:off x="17514216" y="4575096"/>
            <a:ext cx="0" cy="1224075"/>
          </a:xfrm>
          <a:prstGeom prst="straightConnector1">
            <a:avLst/>
          </a:prstGeom>
          <a:ln w="90551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ectangle 110">
            <a:extLst>
              <a:ext uri="{FF2B5EF4-FFF2-40B4-BE49-F238E27FC236}">
                <a16:creationId xmlns:a16="http://schemas.microsoft.com/office/drawing/2014/main" id="{4B064135-E29C-5F11-EDC1-2C66866FAB38}"/>
              </a:ext>
            </a:extLst>
          </p:cNvPr>
          <p:cNvSpPr/>
          <p:nvPr/>
        </p:nvSpPr>
        <p:spPr>
          <a:xfrm>
            <a:off x="6986016" y="8963540"/>
            <a:ext cx="14356080" cy="6638544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2" name="Elbow Connector 111">
            <a:extLst>
              <a:ext uri="{FF2B5EF4-FFF2-40B4-BE49-F238E27FC236}">
                <a16:creationId xmlns:a16="http://schemas.microsoft.com/office/drawing/2014/main" id="{EFD0C664-47E4-FB87-E5AF-FE7F8DAF223B}"/>
              </a:ext>
            </a:extLst>
          </p:cNvPr>
          <p:cNvCxnSpPr>
            <a:cxnSpLocks/>
            <a:stCxn id="125" idx="2"/>
          </p:cNvCxnSpPr>
          <p:nvPr/>
        </p:nvCxnSpPr>
        <p:spPr>
          <a:xfrm rot="16200000" flipH="1">
            <a:off x="10556974" y="11689956"/>
            <a:ext cx="360856" cy="1459354"/>
          </a:xfrm>
          <a:prstGeom prst="bentConnector2">
            <a:avLst/>
          </a:prstGeom>
          <a:ln w="94361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Elbow Connector 112">
            <a:extLst>
              <a:ext uri="{FF2B5EF4-FFF2-40B4-BE49-F238E27FC236}">
                <a16:creationId xmlns:a16="http://schemas.microsoft.com/office/drawing/2014/main" id="{8C09A945-AD88-C051-EDE8-7BAA58F7DB5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0510982" y="12505396"/>
            <a:ext cx="452840" cy="1459354"/>
          </a:xfrm>
          <a:prstGeom prst="bentConnector2">
            <a:avLst/>
          </a:prstGeom>
          <a:ln w="69469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DBFF270C-A184-0FFC-DC71-45744B3E6232}"/>
              </a:ext>
            </a:extLst>
          </p:cNvPr>
          <p:cNvCxnSpPr>
            <a:cxnSpLocks/>
          </p:cNvCxnSpPr>
          <p:nvPr/>
        </p:nvCxnSpPr>
        <p:spPr>
          <a:xfrm>
            <a:off x="13286478" y="12829708"/>
            <a:ext cx="892510" cy="0"/>
          </a:xfrm>
          <a:prstGeom prst="straightConnector1">
            <a:avLst/>
          </a:prstGeom>
          <a:ln w="17399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Elbow Connector 116">
            <a:extLst>
              <a:ext uri="{FF2B5EF4-FFF2-40B4-BE49-F238E27FC236}">
                <a16:creationId xmlns:a16="http://schemas.microsoft.com/office/drawing/2014/main" id="{3FF48B3F-0747-0C57-66BF-8C449C903BA2}"/>
              </a:ext>
            </a:extLst>
          </p:cNvPr>
          <p:cNvCxnSpPr>
            <a:cxnSpLocks/>
            <a:stCxn id="122" idx="0"/>
            <a:endCxn id="120" idx="0"/>
          </p:cNvCxnSpPr>
          <p:nvPr/>
        </p:nvCxnSpPr>
        <p:spPr>
          <a:xfrm rot="16200000" flipH="1">
            <a:off x="18122024" y="10755156"/>
            <a:ext cx="1061295" cy="2276912"/>
          </a:xfrm>
          <a:prstGeom prst="bentConnector3">
            <a:avLst>
              <a:gd name="adj1" fmla="val -21540"/>
            </a:avLst>
          </a:prstGeom>
          <a:ln w="196469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Elbow Connector 117">
            <a:extLst>
              <a:ext uri="{FF2B5EF4-FFF2-40B4-BE49-F238E27FC236}">
                <a16:creationId xmlns:a16="http://schemas.microsoft.com/office/drawing/2014/main" id="{741D2158-6629-E553-E1EC-C4E1756C408F}"/>
              </a:ext>
            </a:extLst>
          </p:cNvPr>
          <p:cNvCxnSpPr>
            <a:cxnSpLocks/>
            <a:stCxn id="121" idx="2"/>
            <a:endCxn id="120" idx="2"/>
          </p:cNvCxnSpPr>
          <p:nvPr/>
        </p:nvCxnSpPr>
        <p:spPr>
          <a:xfrm rot="5400000" flipH="1" flipV="1">
            <a:off x="18132670" y="12683029"/>
            <a:ext cx="1040003" cy="2276912"/>
          </a:xfrm>
          <a:prstGeom prst="bentConnector3">
            <a:avLst>
              <a:gd name="adj1" fmla="val -21981"/>
            </a:avLst>
          </a:prstGeom>
          <a:ln w="19558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Rectangle 118">
            <a:extLst>
              <a:ext uri="{FF2B5EF4-FFF2-40B4-BE49-F238E27FC236}">
                <a16:creationId xmlns:a16="http://schemas.microsoft.com/office/drawing/2014/main" id="{07CD6061-38AF-E689-D1A1-915BA50A72DF}"/>
              </a:ext>
            </a:extLst>
          </p:cNvPr>
          <p:cNvSpPr/>
          <p:nvPr/>
        </p:nvSpPr>
        <p:spPr>
          <a:xfrm>
            <a:off x="11467080" y="12401775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638534B9-D456-40E2-083E-6920B5E8A939}"/>
              </a:ext>
            </a:extLst>
          </p:cNvPr>
          <p:cNvSpPr/>
          <p:nvPr/>
        </p:nvSpPr>
        <p:spPr>
          <a:xfrm>
            <a:off x="18881429" y="12424260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Ν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0B11CFA2-D363-9F33-2E4C-2A83DFC30D7F}"/>
              </a:ext>
            </a:extLst>
          </p:cNvPr>
          <p:cNvSpPr/>
          <p:nvPr/>
        </p:nvSpPr>
        <p:spPr>
          <a:xfrm>
            <a:off x="14189827" y="12391097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:C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CBEC996F-EFEE-1F81-54F0-C8A68684BB24}"/>
              </a:ext>
            </a:extLst>
          </p:cNvPr>
          <p:cNvCxnSpPr>
            <a:cxnSpLocks/>
          </p:cNvCxnSpPr>
          <p:nvPr/>
        </p:nvCxnSpPr>
        <p:spPr>
          <a:xfrm flipV="1">
            <a:off x="11013433" y="14176525"/>
            <a:ext cx="5591084" cy="10678"/>
          </a:xfrm>
          <a:prstGeom prst="straightConnector1">
            <a:avLst/>
          </a:prstGeom>
          <a:ln w="52832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Elbow Connector 129">
            <a:extLst>
              <a:ext uri="{FF2B5EF4-FFF2-40B4-BE49-F238E27FC236}">
                <a16:creationId xmlns:a16="http://schemas.microsoft.com/office/drawing/2014/main" id="{FFF72A87-448F-FD68-A800-8BC9B0BC1A7C}"/>
              </a:ext>
            </a:extLst>
          </p:cNvPr>
          <p:cNvCxnSpPr>
            <a:cxnSpLocks/>
          </p:cNvCxnSpPr>
          <p:nvPr/>
        </p:nvCxnSpPr>
        <p:spPr>
          <a:xfrm flipV="1">
            <a:off x="9599070" y="11362965"/>
            <a:ext cx="7654848" cy="2550587"/>
          </a:xfrm>
          <a:prstGeom prst="bentConnector4">
            <a:avLst>
              <a:gd name="adj1" fmla="val -15756"/>
              <a:gd name="adj2" fmla="val 160739"/>
            </a:avLst>
          </a:prstGeom>
          <a:ln w="539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21B350C3-6710-69C4-F14E-83A56268B101}"/>
              </a:ext>
            </a:extLst>
          </p:cNvPr>
          <p:cNvCxnSpPr>
            <a:stCxn id="121" idx="0"/>
            <a:endCxn id="122" idx="2"/>
          </p:cNvCxnSpPr>
          <p:nvPr/>
        </p:nvCxnSpPr>
        <p:spPr>
          <a:xfrm flipV="1">
            <a:off x="17514216" y="12240188"/>
            <a:ext cx="0" cy="1224075"/>
          </a:xfrm>
          <a:prstGeom prst="straightConnector1">
            <a:avLst/>
          </a:prstGeom>
          <a:ln w="105664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98DA0952-81EA-B5E1-54CA-5815E4092406}"/>
              </a:ext>
            </a:extLst>
          </p:cNvPr>
          <p:cNvCxnSpPr/>
          <p:nvPr/>
        </p:nvCxnSpPr>
        <p:spPr>
          <a:xfrm>
            <a:off x="9458901" y="12239205"/>
            <a:ext cx="0" cy="1225058"/>
          </a:xfrm>
          <a:prstGeom prst="straightConnector1">
            <a:avLst/>
          </a:prstGeom>
          <a:ln w="90805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Rectangle 136">
            <a:extLst>
              <a:ext uri="{FF2B5EF4-FFF2-40B4-BE49-F238E27FC236}">
                <a16:creationId xmlns:a16="http://schemas.microsoft.com/office/drawing/2014/main" id="{4B544D35-CEF3-646F-9807-3EB20E72B471}"/>
              </a:ext>
            </a:extLst>
          </p:cNvPr>
          <p:cNvSpPr/>
          <p:nvPr/>
        </p:nvSpPr>
        <p:spPr>
          <a:xfrm>
            <a:off x="7239918" y="793025"/>
            <a:ext cx="2359152" cy="100584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8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species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1B74F84B-6587-1E93-0697-5F8D554EEAB2}"/>
              </a:ext>
            </a:extLst>
          </p:cNvPr>
          <p:cNvSpPr/>
          <p:nvPr/>
        </p:nvSpPr>
        <p:spPr>
          <a:xfrm>
            <a:off x="7239918" y="8460620"/>
            <a:ext cx="2359152" cy="100584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8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species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23465E-6365-184C-F82D-3C89CDF0013E}"/>
              </a:ext>
            </a:extLst>
          </p:cNvPr>
          <p:cNvSpPr/>
          <p:nvPr/>
        </p:nvSpPr>
        <p:spPr>
          <a:xfrm>
            <a:off x="16604517" y="5799171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9C4F1978-6E28-9AFB-0B78-5DD0A679A98F}"/>
              </a:ext>
            </a:extLst>
          </p:cNvPr>
          <p:cNvSpPr/>
          <p:nvPr/>
        </p:nvSpPr>
        <p:spPr>
          <a:xfrm>
            <a:off x="16604517" y="13464263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7" name="Elbow Connector 86">
            <a:extLst>
              <a:ext uri="{FF2B5EF4-FFF2-40B4-BE49-F238E27FC236}">
                <a16:creationId xmlns:a16="http://schemas.microsoft.com/office/drawing/2014/main" id="{4F0F222A-5003-7CC3-4454-9411960E36D9}"/>
              </a:ext>
            </a:extLst>
          </p:cNvPr>
          <p:cNvCxnSpPr>
            <a:cxnSpLocks/>
          </p:cNvCxnSpPr>
          <p:nvPr/>
        </p:nvCxnSpPr>
        <p:spPr>
          <a:xfrm flipV="1">
            <a:off x="11021384" y="5613906"/>
            <a:ext cx="3420193" cy="444988"/>
          </a:xfrm>
          <a:prstGeom prst="bentConnector3">
            <a:avLst>
              <a:gd name="adj1" fmla="val 99983"/>
            </a:avLst>
          </a:prstGeom>
          <a:ln w="32638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Elbow Connector 95">
            <a:extLst>
              <a:ext uri="{FF2B5EF4-FFF2-40B4-BE49-F238E27FC236}">
                <a16:creationId xmlns:a16="http://schemas.microsoft.com/office/drawing/2014/main" id="{379B4E34-B7A7-58A8-A750-A42910FBEF06}"/>
              </a:ext>
            </a:extLst>
          </p:cNvPr>
          <p:cNvCxnSpPr>
            <a:cxnSpLocks/>
            <a:stCxn id="97" idx="1"/>
          </p:cNvCxnSpPr>
          <p:nvPr/>
        </p:nvCxnSpPr>
        <p:spPr>
          <a:xfrm rot="10800000" flipV="1">
            <a:off x="10007726" y="10395671"/>
            <a:ext cx="1459355" cy="981318"/>
          </a:xfrm>
          <a:prstGeom prst="bentConnector2">
            <a:avLst/>
          </a:prstGeom>
          <a:ln w="157226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>
            <a:extLst>
              <a:ext uri="{FF2B5EF4-FFF2-40B4-BE49-F238E27FC236}">
                <a16:creationId xmlns:a16="http://schemas.microsoft.com/office/drawing/2014/main" id="{4AF4D0D3-F69E-970D-D196-ED034D1218FF}"/>
              </a:ext>
            </a:extLst>
          </p:cNvPr>
          <p:cNvSpPr/>
          <p:nvPr/>
        </p:nvSpPr>
        <p:spPr>
          <a:xfrm>
            <a:off x="11467080" y="9957059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VPD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3" name="Elbow Connector 102">
            <a:extLst>
              <a:ext uri="{FF2B5EF4-FFF2-40B4-BE49-F238E27FC236}">
                <a16:creationId xmlns:a16="http://schemas.microsoft.com/office/drawing/2014/main" id="{5CB050A9-177C-DD4F-55C1-67DABEFCF568}"/>
              </a:ext>
            </a:extLst>
          </p:cNvPr>
          <p:cNvCxnSpPr>
            <a:cxnSpLocks/>
          </p:cNvCxnSpPr>
          <p:nvPr/>
        </p:nvCxnSpPr>
        <p:spPr>
          <a:xfrm rot="16200000" flipH="1">
            <a:off x="13003301" y="3014789"/>
            <a:ext cx="2010434" cy="1411997"/>
          </a:xfrm>
          <a:prstGeom prst="bentConnector3">
            <a:avLst>
              <a:gd name="adj1" fmla="val 167"/>
            </a:avLst>
          </a:prstGeom>
          <a:ln w="48641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D9301AC8-820A-6905-E94D-B1A43A6E26EF}"/>
              </a:ext>
            </a:extLst>
          </p:cNvPr>
          <p:cNvSpPr/>
          <p:nvPr/>
        </p:nvSpPr>
        <p:spPr>
          <a:xfrm>
            <a:off x="11467080" y="2276960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VPD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FD7E968-8F81-887D-0BC6-8F6001755390}"/>
              </a:ext>
            </a:extLst>
          </p:cNvPr>
          <p:cNvSpPr/>
          <p:nvPr/>
        </p:nvSpPr>
        <p:spPr>
          <a:xfrm>
            <a:off x="16604517" y="3697873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mass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62D8A45-A317-DFD4-7949-E7194DB40F11}"/>
              </a:ext>
            </a:extLst>
          </p:cNvPr>
          <p:cNvSpPr/>
          <p:nvPr/>
        </p:nvSpPr>
        <p:spPr>
          <a:xfrm>
            <a:off x="14189827" y="4726005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:C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44E7514D-E322-67D6-FAAE-AD7D5D60FCE0}"/>
              </a:ext>
            </a:extLst>
          </p:cNvPr>
          <p:cNvSpPr/>
          <p:nvPr/>
        </p:nvSpPr>
        <p:spPr>
          <a:xfrm>
            <a:off x="16604517" y="11362965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mass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7CEA00E0-F289-2A57-17CF-927D4D33B123}"/>
              </a:ext>
            </a:extLst>
          </p:cNvPr>
          <p:cNvSpPr txBox="1"/>
          <p:nvPr/>
        </p:nvSpPr>
        <p:spPr>
          <a:xfrm>
            <a:off x="7170675" y="7431412"/>
            <a:ext cx="7416133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Fisher’s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=30.976,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=0.056, df=20, AIC=102.976, BIC=235.707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F0AF4C42-47FB-A361-A5F2-7EA7BC4D934C}"/>
              </a:ext>
            </a:extLst>
          </p:cNvPr>
          <p:cNvSpPr txBox="1"/>
          <p:nvPr/>
        </p:nvSpPr>
        <p:spPr>
          <a:xfrm>
            <a:off x="7170675" y="15068776"/>
            <a:ext cx="7273466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Fisher’s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=16.651,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=0.863, df=24, AIC=86.651, BIC=176.766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DDB25BE9-98C5-A286-D683-3E32B1D10310}"/>
              </a:ext>
            </a:extLst>
          </p:cNvPr>
          <p:cNvSpPr txBox="1"/>
          <p:nvPr/>
        </p:nvSpPr>
        <p:spPr>
          <a:xfrm>
            <a:off x="5315685" y="464948"/>
            <a:ext cx="9380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AE1C6EBA-6B57-5C61-7E24-5C333A2AB63A}"/>
              </a:ext>
            </a:extLst>
          </p:cNvPr>
          <p:cNvSpPr txBox="1"/>
          <p:nvPr/>
        </p:nvSpPr>
        <p:spPr>
          <a:xfrm>
            <a:off x="5315685" y="8132543"/>
            <a:ext cx="9380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244C3B3-BFB3-A800-01FE-5E3353CD4BC7}"/>
              </a:ext>
            </a:extLst>
          </p:cNvPr>
          <p:cNvSpPr/>
          <p:nvPr/>
        </p:nvSpPr>
        <p:spPr>
          <a:xfrm>
            <a:off x="9002017" y="5809849"/>
            <a:ext cx="2011416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availability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7F03D25F-2F17-0496-79A5-BAF7DB27DF4E}"/>
              </a:ext>
            </a:extLst>
          </p:cNvPr>
          <p:cNvCxnSpPr>
            <a:stCxn id="124" idx="0"/>
          </p:cNvCxnSpPr>
          <p:nvPr/>
        </p:nvCxnSpPr>
        <p:spPr>
          <a:xfrm rot="5400000" flipH="1" flipV="1">
            <a:off x="15527925" y="11348712"/>
            <a:ext cx="613986" cy="1470785"/>
          </a:xfrm>
          <a:prstGeom prst="bentConnector2">
            <a:avLst/>
          </a:prstGeom>
          <a:ln w="6350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5866A005-688C-56C1-2D9E-B6421F682341}"/>
              </a:ext>
            </a:extLst>
          </p:cNvPr>
          <p:cNvCxnSpPr>
            <a:stCxn id="124" idx="2"/>
          </p:cNvCxnSpPr>
          <p:nvPr/>
        </p:nvCxnSpPr>
        <p:spPr>
          <a:xfrm rot="16200000" flipH="1">
            <a:off x="15517641" y="12850204"/>
            <a:ext cx="634554" cy="1470785"/>
          </a:xfrm>
          <a:prstGeom prst="bentConnector2">
            <a:avLst/>
          </a:prstGeom>
          <a:ln w="6350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88D45446-477B-D9D1-6A73-931C78512826}"/>
              </a:ext>
            </a:extLst>
          </p:cNvPr>
          <p:cNvCxnSpPr>
            <a:cxnSpLocks/>
          </p:cNvCxnSpPr>
          <p:nvPr/>
        </p:nvCxnSpPr>
        <p:spPr>
          <a:xfrm>
            <a:off x="10682548" y="11811000"/>
            <a:ext cx="3658926" cy="559663"/>
          </a:xfrm>
          <a:prstGeom prst="bentConnector3">
            <a:avLst>
              <a:gd name="adj1" fmla="val 100032"/>
            </a:avLst>
          </a:prstGeom>
          <a:ln w="6350">
            <a:solidFill>
              <a:schemeClr val="tx1"/>
            </a:solidFill>
            <a:prstDash val="lg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Rectangle 124">
            <a:extLst>
              <a:ext uri="{FF2B5EF4-FFF2-40B4-BE49-F238E27FC236}">
                <a16:creationId xmlns:a16="http://schemas.microsoft.com/office/drawing/2014/main" id="{5C207482-5FB8-477F-09C3-E31A8AE7FE8C}"/>
              </a:ext>
            </a:extLst>
          </p:cNvPr>
          <p:cNvSpPr/>
          <p:nvPr/>
        </p:nvSpPr>
        <p:spPr>
          <a:xfrm>
            <a:off x="9098026" y="11361982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Soil moisture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6829F791-A480-3BBD-3107-DAAA8E1F7BA9}"/>
              </a:ext>
            </a:extLst>
          </p:cNvPr>
          <p:cNvCxnSpPr>
            <a:cxnSpLocks/>
            <a:stCxn id="97" idx="3"/>
          </p:cNvCxnSpPr>
          <p:nvPr/>
        </p:nvCxnSpPr>
        <p:spPr>
          <a:xfrm>
            <a:off x="13286478" y="10395671"/>
            <a:ext cx="1424057" cy="2014473"/>
          </a:xfrm>
          <a:prstGeom prst="bentConnector2">
            <a:avLst/>
          </a:prstGeom>
          <a:ln w="6350">
            <a:solidFill>
              <a:schemeClr val="tx1"/>
            </a:solidFill>
            <a:prstDash val="lg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42FF173-37E1-4FA1-0C53-80A79BF764C2}"/>
              </a:ext>
            </a:extLst>
          </p:cNvPr>
          <p:cNvGrpSpPr/>
          <p:nvPr/>
        </p:nvGrpSpPr>
        <p:grpSpPr>
          <a:xfrm>
            <a:off x="10049956" y="16314463"/>
            <a:ext cx="7365553" cy="1333409"/>
            <a:chOff x="10559644" y="16560396"/>
            <a:chExt cx="7365553" cy="1333409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A78CE20-7F37-84DA-819E-87F431CF44E0}"/>
                </a:ext>
              </a:extLst>
            </p:cNvPr>
            <p:cNvSpPr txBox="1"/>
            <p:nvPr/>
          </p:nvSpPr>
          <p:spPr>
            <a:xfrm>
              <a:off x="17090476" y="16745139"/>
              <a:ext cx="718466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Arial" panose="020B0604020202020204" pitchFamily="34" charset="0"/>
                  <a:cs typeface="Arial" panose="020B0604020202020204" pitchFamily="34" charset="0"/>
                </a:rPr>
                <a:t>NS</a:t>
              </a: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669553A0-A0B6-DB67-BCB3-6341D4C75988}"/>
                </a:ext>
              </a:extLst>
            </p:cNvPr>
            <p:cNvGrpSpPr/>
            <p:nvPr/>
          </p:nvGrpSpPr>
          <p:grpSpPr>
            <a:xfrm>
              <a:off x="10559644" y="16560396"/>
              <a:ext cx="7208824" cy="1333409"/>
              <a:chOff x="9836749" y="13266385"/>
              <a:chExt cx="7208824" cy="1333409"/>
            </a:xfrm>
          </p:grpSpPr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6293F274-92CF-FE6B-8189-016C186F03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510490" y="13425953"/>
                <a:ext cx="951115" cy="0"/>
              </a:xfrm>
              <a:prstGeom prst="line">
                <a:avLst/>
              </a:prstGeom>
              <a:ln w="952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CD7A520E-F3C1-CCDE-A595-82CA16F9AA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77418" y="13446974"/>
                <a:ext cx="951115" cy="0"/>
              </a:xfrm>
              <a:prstGeom prst="line">
                <a:avLst/>
              </a:prstGeom>
              <a:ln w="476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E1A3ABE2-8C0F-4DEC-BFD9-EF74E52477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349853" y="13429128"/>
                <a:ext cx="951115" cy="0"/>
              </a:xfrm>
              <a:prstGeom prst="line">
                <a:avLst/>
              </a:prstGeom>
              <a:ln w="952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EF4385D1-1A78-EDB2-F8B8-5060D8CFD2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97410" y="13451128"/>
                <a:ext cx="951115" cy="0"/>
              </a:xfrm>
              <a:prstGeom prst="line">
                <a:avLst/>
              </a:prstGeom>
              <a:ln w="4762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C1237ADD-804E-BD5A-0C4D-045891C7FF79}"/>
                  </a:ext>
                </a:extLst>
              </p:cNvPr>
              <p:cNvSpPr txBox="1"/>
              <p:nvPr/>
            </p:nvSpPr>
            <p:spPr>
              <a:xfrm>
                <a:off x="12510871" y="13433721"/>
                <a:ext cx="84670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-0.9</a:t>
                </a: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D3FFF082-0445-1303-5D9C-E7D3A7814586}"/>
                  </a:ext>
                </a:extLst>
              </p:cNvPr>
              <p:cNvSpPr txBox="1"/>
              <p:nvPr/>
            </p:nvSpPr>
            <p:spPr>
              <a:xfrm>
                <a:off x="13501953" y="13440763"/>
                <a:ext cx="71846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0.9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ED013752-F16B-B3C0-C4C0-738E13742432}"/>
                  </a:ext>
                </a:extLst>
              </p:cNvPr>
              <p:cNvSpPr txBox="1"/>
              <p:nvPr/>
            </p:nvSpPr>
            <p:spPr>
              <a:xfrm>
                <a:off x="11560010" y="13440763"/>
                <a:ext cx="84670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-0.6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C2932036-C0CD-0DC8-3A72-44FF40A83058}"/>
                  </a:ext>
                </a:extLst>
              </p:cNvPr>
              <p:cNvSpPr txBox="1"/>
              <p:nvPr/>
            </p:nvSpPr>
            <p:spPr>
              <a:xfrm>
                <a:off x="14475866" y="13444216"/>
                <a:ext cx="71846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0.6</a:t>
                </a: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D6BBEE57-3FAE-3AFE-2107-8E4414F115B1}"/>
                  </a:ext>
                </a:extLst>
              </p:cNvPr>
              <p:cNvSpPr txBox="1"/>
              <p:nvPr/>
            </p:nvSpPr>
            <p:spPr>
              <a:xfrm>
                <a:off x="15416682" y="13426392"/>
                <a:ext cx="71846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0.3</a:t>
                </a: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63193CE3-2969-4586-F929-3BCAD1A72676}"/>
                  </a:ext>
                </a:extLst>
              </p:cNvPr>
              <p:cNvSpPr txBox="1"/>
              <p:nvPr/>
            </p:nvSpPr>
            <p:spPr>
              <a:xfrm>
                <a:off x="10624830" y="13445817"/>
                <a:ext cx="84670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-0.3</a:t>
                </a: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FDE0D79C-3283-54B8-1F07-D2BFD05F94A7}"/>
                  </a:ext>
                </a:extLst>
              </p:cNvPr>
              <p:cNvSpPr txBox="1"/>
              <p:nvPr/>
            </p:nvSpPr>
            <p:spPr>
              <a:xfrm>
                <a:off x="11639882" y="14045796"/>
                <a:ext cx="469551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Standardized Coefficient</a:t>
                </a:r>
              </a:p>
            </p:txBody>
          </p: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137FCBDC-8537-F856-0351-8BFA821779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453667" y="13380736"/>
                <a:ext cx="951115" cy="0"/>
              </a:xfrm>
              <a:prstGeom prst="line">
                <a:avLst/>
              </a:prstGeom>
              <a:ln w="1905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6B52674F-DB9D-49BC-874E-A8A8F77EEC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401607" y="13379744"/>
                <a:ext cx="951115" cy="0"/>
              </a:xfrm>
              <a:prstGeom prst="line">
                <a:avLst/>
              </a:prstGeom>
              <a:ln w="19050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6EE7D096-F04F-195B-3633-9072E5AE809A}"/>
                  </a:ext>
                </a:extLst>
              </p:cNvPr>
              <p:cNvSpPr/>
              <p:nvPr/>
            </p:nvSpPr>
            <p:spPr>
              <a:xfrm>
                <a:off x="10539776" y="13475193"/>
                <a:ext cx="5751830" cy="5685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9F9C53B8-7D97-C77B-8EC2-95916E431FD7}"/>
                  </a:ext>
                </a:extLst>
              </p:cNvPr>
              <p:cNvSpPr/>
              <p:nvPr/>
            </p:nvSpPr>
            <p:spPr>
              <a:xfrm>
                <a:off x="9836749" y="13470593"/>
                <a:ext cx="7010400" cy="4571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E36B7C6E-083C-34FF-5B1E-51B7601E9BE7}"/>
                  </a:ext>
                </a:extLst>
              </p:cNvPr>
              <p:cNvSpPr/>
              <p:nvPr/>
            </p:nvSpPr>
            <p:spPr>
              <a:xfrm>
                <a:off x="10035173" y="13266385"/>
                <a:ext cx="7010400" cy="4571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625675B7-5168-D6D8-8C0A-6490CB991EC9}"/>
                </a:ext>
              </a:extLst>
            </p:cNvPr>
            <p:cNvCxnSpPr>
              <a:cxnSpLocks/>
            </p:cNvCxnSpPr>
            <p:nvPr/>
          </p:nvCxnSpPr>
          <p:spPr>
            <a:xfrm>
              <a:off x="16974221" y="16750749"/>
              <a:ext cx="950976" cy="0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64C2F450-33FE-2B05-F34D-CF5706DC66A4}"/>
              </a:ext>
            </a:extLst>
          </p:cNvPr>
          <p:cNvCxnSpPr>
            <a:cxnSpLocks/>
            <a:stCxn id="23" idx="2"/>
          </p:cNvCxnSpPr>
          <p:nvPr/>
        </p:nvCxnSpPr>
        <p:spPr>
          <a:xfrm rot="16200000" flipH="1">
            <a:off x="10557720" y="4024117"/>
            <a:ext cx="358513" cy="1458503"/>
          </a:xfrm>
          <a:prstGeom prst="bentConnector2">
            <a:avLst/>
          </a:prstGeom>
          <a:ln w="37592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8BB56F6-F524-55A1-CD35-7337C36CA84B}"/>
              </a:ext>
            </a:extLst>
          </p:cNvPr>
          <p:cNvCxnSpPr/>
          <p:nvPr/>
        </p:nvCxnSpPr>
        <p:spPr>
          <a:xfrm>
            <a:off x="9458901" y="4574111"/>
            <a:ext cx="0" cy="1213550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26CCBCFE-AADF-0F8F-B300-A5D45BACB156}"/>
              </a:ext>
            </a:extLst>
          </p:cNvPr>
          <p:cNvCxnSpPr>
            <a:cxnSpLocks/>
          </p:cNvCxnSpPr>
          <p:nvPr/>
        </p:nvCxnSpPr>
        <p:spPr>
          <a:xfrm flipV="1">
            <a:off x="10624673" y="13275675"/>
            <a:ext cx="3726379" cy="639746"/>
          </a:xfrm>
          <a:prstGeom prst="bentConnector3">
            <a:avLst>
              <a:gd name="adj1" fmla="val 100009"/>
            </a:avLst>
          </a:prstGeom>
          <a:ln w="6350">
            <a:solidFill>
              <a:schemeClr val="tx1"/>
            </a:solidFill>
            <a:prstDash val="lg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Rectangle 132">
            <a:extLst>
              <a:ext uri="{FF2B5EF4-FFF2-40B4-BE49-F238E27FC236}">
                <a16:creationId xmlns:a16="http://schemas.microsoft.com/office/drawing/2014/main" id="{EDE6B700-7E4D-36F5-8019-D93207022D47}"/>
              </a:ext>
            </a:extLst>
          </p:cNvPr>
          <p:cNvSpPr/>
          <p:nvPr/>
        </p:nvSpPr>
        <p:spPr>
          <a:xfrm>
            <a:off x="9002017" y="13474941"/>
            <a:ext cx="2011416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availability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3A2E9EFF-06C2-C95C-474B-35F69916EDC4}"/>
              </a:ext>
            </a:extLst>
          </p:cNvPr>
          <p:cNvCxnSpPr>
            <a:cxnSpLocks/>
          </p:cNvCxnSpPr>
          <p:nvPr/>
        </p:nvCxnSpPr>
        <p:spPr>
          <a:xfrm>
            <a:off x="10774700" y="4150339"/>
            <a:ext cx="3658926" cy="559663"/>
          </a:xfrm>
          <a:prstGeom prst="bentConnector3">
            <a:avLst>
              <a:gd name="adj1" fmla="val 100032"/>
            </a:avLst>
          </a:prstGeom>
          <a:ln w="6350">
            <a:solidFill>
              <a:schemeClr val="tx1"/>
            </a:solidFill>
            <a:prstDash val="lg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3AAD1016-970D-A63E-5FF8-0CE765630A13}"/>
              </a:ext>
            </a:extLst>
          </p:cNvPr>
          <p:cNvSpPr/>
          <p:nvPr/>
        </p:nvSpPr>
        <p:spPr>
          <a:xfrm>
            <a:off x="9098026" y="3696890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Soil moisture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133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51409-B14F-E6E7-6114-F7815B019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108">
            <a:extLst>
              <a:ext uri="{FF2B5EF4-FFF2-40B4-BE49-F238E27FC236}">
                <a16:creationId xmlns:a16="http://schemas.microsoft.com/office/drawing/2014/main" id="{158844DB-6AF2-5B4E-C359-7BB5751F5E0E}"/>
              </a:ext>
            </a:extLst>
          </p:cNvPr>
          <p:cNvSpPr/>
          <p:nvPr/>
        </p:nvSpPr>
        <p:spPr>
          <a:xfrm>
            <a:off x="6986016" y="1298448"/>
            <a:ext cx="14356080" cy="6638544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7467FDC-0E82-6612-7C35-0C4B5FA0403F}"/>
              </a:ext>
            </a:extLst>
          </p:cNvPr>
          <p:cNvCxnSpPr/>
          <p:nvPr/>
        </p:nvCxnSpPr>
        <p:spPr>
          <a:xfrm>
            <a:off x="10917424" y="3886200"/>
            <a:ext cx="5663364" cy="0"/>
          </a:xfrm>
          <a:prstGeom prst="straightConnector1">
            <a:avLst/>
          </a:prstGeom>
          <a:ln w="23876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E181639-44C6-3E90-8AD2-3F54A3C6743C}"/>
              </a:ext>
            </a:extLst>
          </p:cNvPr>
          <p:cNvCxnSpPr>
            <a:cxnSpLocks/>
          </p:cNvCxnSpPr>
          <p:nvPr/>
        </p:nvCxnSpPr>
        <p:spPr>
          <a:xfrm>
            <a:off x="16971420" y="16761203"/>
            <a:ext cx="0" cy="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A3743FD9-A4EB-75AC-5782-FB440B42B1E4}"/>
              </a:ext>
            </a:extLst>
          </p:cNvPr>
          <p:cNvCxnSpPr>
            <a:cxnSpLocks/>
          </p:cNvCxnSpPr>
          <p:nvPr/>
        </p:nvCxnSpPr>
        <p:spPr>
          <a:xfrm flipV="1">
            <a:off x="10007724" y="5357009"/>
            <a:ext cx="1459355" cy="430652"/>
          </a:xfrm>
          <a:prstGeom prst="bentConnector3">
            <a:avLst>
              <a:gd name="adj1" fmla="val -11"/>
            </a:avLst>
          </a:prstGeom>
          <a:ln w="30480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FAAC4F6-1331-F376-EC55-E4D400A5E875}"/>
              </a:ext>
            </a:extLst>
          </p:cNvPr>
          <p:cNvCxnSpPr>
            <a:cxnSpLocks/>
          </p:cNvCxnSpPr>
          <p:nvPr/>
        </p:nvCxnSpPr>
        <p:spPr>
          <a:xfrm>
            <a:off x="13286478" y="5164616"/>
            <a:ext cx="892510" cy="0"/>
          </a:xfrm>
          <a:prstGeom prst="straightConnector1">
            <a:avLst/>
          </a:prstGeom>
          <a:ln w="126492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52E59A82-2572-9B8F-4B43-B3C035FBFED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5548873" y="3656508"/>
            <a:ext cx="606296" cy="1504990"/>
          </a:xfrm>
          <a:prstGeom prst="bentConnector2">
            <a:avLst/>
          </a:prstGeom>
          <a:ln w="37846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2011B630-F53B-BF5A-0E17-DD51D308E5C5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534744" y="5184051"/>
            <a:ext cx="634555" cy="1504991"/>
          </a:xfrm>
          <a:prstGeom prst="bentConnector2">
            <a:avLst/>
          </a:prstGeom>
          <a:ln w="46609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5A56F9CB-4342-ECD5-9838-DB34E4CAEC54}"/>
              </a:ext>
            </a:extLst>
          </p:cNvPr>
          <p:cNvCxnSpPr>
            <a:cxnSpLocks/>
            <a:stCxn id="19" idx="0"/>
            <a:endCxn id="17" idx="0"/>
          </p:cNvCxnSpPr>
          <p:nvPr/>
        </p:nvCxnSpPr>
        <p:spPr>
          <a:xfrm rot="16200000" flipH="1">
            <a:off x="18122024" y="3090064"/>
            <a:ext cx="1061295" cy="2276912"/>
          </a:xfrm>
          <a:prstGeom prst="bentConnector3">
            <a:avLst>
              <a:gd name="adj1" fmla="val -21540"/>
            </a:avLst>
          </a:prstGeom>
          <a:ln w="18986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62D3A01D-6C91-96F2-FD09-40C9E9E5D131}"/>
              </a:ext>
            </a:extLst>
          </p:cNvPr>
          <p:cNvCxnSpPr>
            <a:cxnSpLocks/>
            <a:stCxn id="18" idx="2"/>
            <a:endCxn id="17" idx="2"/>
          </p:cNvCxnSpPr>
          <p:nvPr/>
        </p:nvCxnSpPr>
        <p:spPr>
          <a:xfrm rot="5400000" flipH="1" flipV="1">
            <a:off x="18132670" y="5017937"/>
            <a:ext cx="1040003" cy="2276912"/>
          </a:xfrm>
          <a:prstGeom prst="bentConnector3">
            <a:avLst>
              <a:gd name="adj1" fmla="val -21981"/>
            </a:avLst>
          </a:prstGeom>
          <a:ln w="20383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D832B281-49A2-A72A-F415-C6C4B5D9CD94}"/>
              </a:ext>
            </a:extLst>
          </p:cNvPr>
          <p:cNvSpPr/>
          <p:nvPr/>
        </p:nvSpPr>
        <p:spPr>
          <a:xfrm>
            <a:off x="11467080" y="4736683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119D60B-178F-8AA1-3613-556BB9B2D0AB}"/>
              </a:ext>
            </a:extLst>
          </p:cNvPr>
          <p:cNvSpPr/>
          <p:nvPr/>
        </p:nvSpPr>
        <p:spPr>
          <a:xfrm>
            <a:off x="18881429" y="4759168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Ν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E4CC9F5-201B-76BD-C138-2774DED773A2}"/>
              </a:ext>
            </a:extLst>
          </p:cNvPr>
          <p:cNvCxnSpPr>
            <a:cxnSpLocks/>
          </p:cNvCxnSpPr>
          <p:nvPr/>
        </p:nvCxnSpPr>
        <p:spPr>
          <a:xfrm flipV="1">
            <a:off x="11013433" y="6511433"/>
            <a:ext cx="5591084" cy="10678"/>
          </a:xfrm>
          <a:prstGeom prst="straightConnector1">
            <a:avLst/>
          </a:prstGeom>
          <a:ln w="58674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F77FC94C-9F70-DB17-D12F-D632A14E1ADE}"/>
              </a:ext>
            </a:extLst>
          </p:cNvPr>
          <p:cNvCxnSpPr>
            <a:cxnSpLocks/>
          </p:cNvCxnSpPr>
          <p:nvPr/>
        </p:nvCxnSpPr>
        <p:spPr>
          <a:xfrm flipV="1">
            <a:off x="9599070" y="3697873"/>
            <a:ext cx="7654848" cy="2550587"/>
          </a:xfrm>
          <a:prstGeom prst="bentConnector4">
            <a:avLst>
              <a:gd name="adj1" fmla="val -11111"/>
              <a:gd name="adj2" fmla="val 161224"/>
            </a:avLst>
          </a:prstGeom>
          <a:ln w="58166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FB8FF8B-2747-C86E-3AFB-4991610E4F82}"/>
              </a:ext>
            </a:extLst>
          </p:cNvPr>
          <p:cNvCxnSpPr>
            <a:stCxn id="18" idx="0"/>
            <a:endCxn id="19" idx="2"/>
          </p:cNvCxnSpPr>
          <p:nvPr/>
        </p:nvCxnSpPr>
        <p:spPr>
          <a:xfrm flipV="1">
            <a:off x="17514216" y="4575096"/>
            <a:ext cx="0" cy="1224075"/>
          </a:xfrm>
          <a:prstGeom prst="straightConnector1">
            <a:avLst/>
          </a:prstGeom>
          <a:ln w="78740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ectangle 110">
            <a:extLst>
              <a:ext uri="{FF2B5EF4-FFF2-40B4-BE49-F238E27FC236}">
                <a16:creationId xmlns:a16="http://schemas.microsoft.com/office/drawing/2014/main" id="{E3D9EBAF-6A8B-A9BB-B6E8-8BC916C9866A}"/>
              </a:ext>
            </a:extLst>
          </p:cNvPr>
          <p:cNvSpPr/>
          <p:nvPr/>
        </p:nvSpPr>
        <p:spPr>
          <a:xfrm>
            <a:off x="6986016" y="8963540"/>
            <a:ext cx="14356080" cy="6638544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2" name="Elbow Connector 111">
            <a:extLst>
              <a:ext uri="{FF2B5EF4-FFF2-40B4-BE49-F238E27FC236}">
                <a16:creationId xmlns:a16="http://schemas.microsoft.com/office/drawing/2014/main" id="{DEE4623F-C31E-966E-2323-AEECEA97C30B}"/>
              </a:ext>
            </a:extLst>
          </p:cNvPr>
          <p:cNvCxnSpPr>
            <a:cxnSpLocks/>
            <a:stCxn id="125" idx="2"/>
          </p:cNvCxnSpPr>
          <p:nvPr/>
        </p:nvCxnSpPr>
        <p:spPr>
          <a:xfrm rot="16200000" flipH="1">
            <a:off x="10556974" y="11689956"/>
            <a:ext cx="360856" cy="1459354"/>
          </a:xfrm>
          <a:prstGeom prst="bentConnector2">
            <a:avLst/>
          </a:prstGeom>
          <a:ln w="65532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Elbow Connector 112">
            <a:extLst>
              <a:ext uri="{FF2B5EF4-FFF2-40B4-BE49-F238E27FC236}">
                <a16:creationId xmlns:a16="http://schemas.microsoft.com/office/drawing/2014/main" id="{4E0C31F0-8E06-2E59-10F8-91584FCD202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0510982" y="12505396"/>
            <a:ext cx="452840" cy="1459354"/>
          </a:xfrm>
          <a:prstGeom prst="bentConnector2">
            <a:avLst/>
          </a:prstGeom>
          <a:ln w="6350">
            <a:solidFill>
              <a:schemeClr val="tx1"/>
            </a:solidFill>
            <a:prstDash val="lg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B4C67339-061A-1A9E-55E6-162B7BAC5A25}"/>
              </a:ext>
            </a:extLst>
          </p:cNvPr>
          <p:cNvCxnSpPr>
            <a:cxnSpLocks/>
          </p:cNvCxnSpPr>
          <p:nvPr/>
        </p:nvCxnSpPr>
        <p:spPr>
          <a:xfrm>
            <a:off x="13286478" y="12829708"/>
            <a:ext cx="892510" cy="0"/>
          </a:xfrm>
          <a:prstGeom prst="straightConnector1">
            <a:avLst/>
          </a:prstGeom>
          <a:ln w="11303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Elbow Connector 116">
            <a:extLst>
              <a:ext uri="{FF2B5EF4-FFF2-40B4-BE49-F238E27FC236}">
                <a16:creationId xmlns:a16="http://schemas.microsoft.com/office/drawing/2014/main" id="{7E05DC9B-9601-ADD2-D3AE-1101A3133BD3}"/>
              </a:ext>
            </a:extLst>
          </p:cNvPr>
          <p:cNvCxnSpPr>
            <a:cxnSpLocks/>
            <a:stCxn id="122" idx="0"/>
            <a:endCxn id="120" idx="0"/>
          </p:cNvCxnSpPr>
          <p:nvPr/>
        </p:nvCxnSpPr>
        <p:spPr>
          <a:xfrm rot="16200000" flipH="1">
            <a:off x="18122024" y="10755156"/>
            <a:ext cx="1061295" cy="2276912"/>
          </a:xfrm>
          <a:prstGeom prst="bentConnector3">
            <a:avLst>
              <a:gd name="adj1" fmla="val -21540"/>
            </a:avLst>
          </a:prstGeom>
          <a:ln w="184023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Elbow Connector 117">
            <a:extLst>
              <a:ext uri="{FF2B5EF4-FFF2-40B4-BE49-F238E27FC236}">
                <a16:creationId xmlns:a16="http://schemas.microsoft.com/office/drawing/2014/main" id="{482808FF-81DA-3C92-A794-5AAF183E3C32}"/>
              </a:ext>
            </a:extLst>
          </p:cNvPr>
          <p:cNvCxnSpPr>
            <a:cxnSpLocks/>
            <a:stCxn id="121" idx="2"/>
            <a:endCxn id="120" idx="2"/>
          </p:cNvCxnSpPr>
          <p:nvPr/>
        </p:nvCxnSpPr>
        <p:spPr>
          <a:xfrm rot="5400000" flipH="1" flipV="1">
            <a:off x="18132670" y="12683029"/>
            <a:ext cx="1040003" cy="2276912"/>
          </a:xfrm>
          <a:prstGeom prst="bentConnector3">
            <a:avLst>
              <a:gd name="adj1" fmla="val -21981"/>
            </a:avLst>
          </a:prstGeom>
          <a:ln w="201549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Rectangle 118">
            <a:extLst>
              <a:ext uri="{FF2B5EF4-FFF2-40B4-BE49-F238E27FC236}">
                <a16:creationId xmlns:a16="http://schemas.microsoft.com/office/drawing/2014/main" id="{90CEB0EF-1CF0-A1B8-ECA3-0CE52692D21B}"/>
              </a:ext>
            </a:extLst>
          </p:cNvPr>
          <p:cNvSpPr/>
          <p:nvPr/>
        </p:nvSpPr>
        <p:spPr>
          <a:xfrm>
            <a:off x="11467080" y="12401775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B4BB9942-ABBD-88AE-F28C-41FCC163D07B}"/>
              </a:ext>
            </a:extLst>
          </p:cNvPr>
          <p:cNvSpPr/>
          <p:nvPr/>
        </p:nvSpPr>
        <p:spPr>
          <a:xfrm>
            <a:off x="18881429" y="12424260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Ν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8A33E0A4-2826-A70A-7BC3-4043AEDFCBA2}"/>
              </a:ext>
            </a:extLst>
          </p:cNvPr>
          <p:cNvSpPr/>
          <p:nvPr/>
        </p:nvSpPr>
        <p:spPr>
          <a:xfrm>
            <a:off x="14189827" y="12391097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:C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B7546C00-72A5-572D-149F-802C7FB0A7BD}"/>
              </a:ext>
            </a:extLst>
          </p:cNvPr>
          <p:cNvCxnSpPr>
            <a:cxnSpLocks/>
          </p:cNvCxnSpPr>
          <p:nvPr/>
        </p:nvCxnSpPr>
        <p:spPr>
          <a:xfrm flipV="1">
            <a:off x="11013433" y="14176525"/>
            <a:ext cx="5591084" cy="10678"/>
          </a:xfrm>
          <a:prstGeom prst="straightConnector1">
            <a:avLst/>
          </a:prstGeom>
          <a:ln w="6350">
            <a:solidFill>
              <a:schemeClr val="tx1"/>
            </a:solidFill>
            <a:prstDash val="lg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Elbow Connector 129">
            <a:extLst>
              <a:ext uri="{FF2B5EF4-FFF2-40B4-BE49-F238E27FC236}">
                <a16:creationId xmlns:a16="http://schemas.microsoft.com/office/drawing/2014/main" id="{12F07468-58B0-ADC4-13D2-7BB9C0077960}"/>
              </a:ext>
            </a:extLst>
          </p:cNvPr>
          <p:cNvCxnSpPr>
            <a:cxnSpLocks/>
          </p:cNvCxnSpPr>
          <p:nvPr/>
        </p:nvCxnSpPr>
        <p:spPr>
          <a:xfrm flipV="1">
            <a:off x="9599070" y="11362965"/>
            <a:ext cx="7654848" cy="2550587"/>
          </a:xfrm>
          <a:prstGeom prst="bentConnector4">
            <a:avLst>
              <a:gd name="adj1" fmla="val -15756"/>
              <a:gd name="adj2" fmla="val 160739"/>
            </a:avLst>
          </a:prstGeom>
          <a:ln w="60706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79D495FF-3FF9-0090-727A-09C6D3D03A07}"/>
              </a:ext>
            </a:extLst>
          </p:cNvPr>
          <p:cNvCxnSpPr>
            <a:stCxn id="121" idx="0"/>
            <a:endCxn id="122" idx="2"/>
          </p:cNvCxnSpPr>
          <p:nvPr/>
        </p:nvCxnSpPr>
        <p:spPr>
          <a:xfrm flipV="1">
            <a:off x="17514216" y="12240188"/>
            <a:ext cx="0" cy="1224075"/>
          </a:xfrm>
          <a:prstGeom prst="straightConnector1">
            <a:avLst/>
          </a:prstGeom>
          <a:ln w="119380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Rectangle 136">
            <a:extLst>
              <a:ext uri="{FF2B5EF4-FFF2-40B4-BE49-F238E27FC236}">
                <a16:creationId xmlns:a16="http://schemas.microsoft.com/office/drawing/2014/main" id="{EFD512D2-8D9B-FEF4-35C0-1A743950094B}"/>
              </a:ext>
            </a:extLst>
          </p:cNvPr>
          <p:cNvSpPr/>
          <p:nvPr/>
        </p:nvSpPr>
        <p:spPr>
          <a:xfrm>
            <a:off x="7239918" y="793025"/>
            <a:ext cx="2359152" cy="100584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8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species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B1376FD-FDEF-5420-00D8-A10C8F62294F}"/>
              </a:ext>
            </a:extLst>
          </p:cNvPr>
          <p:cNvSpPr/>
          <p:nvPr/>
        </p:nvSpPr>
        <p:spPr>
          <a:xfrm>
            <a:off x="7239918" y="8460620"/>
            <a:ext cx="2359152" cy="100584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8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species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C9C826-34F4-86B7-32AA-06FC02007627}"/>
              </a:ext>
            </a:extLst>
          </p:cNvPr>
          <p:cNvSpPr/>
          <p:nvPr/>
        </p:nvSpPr>
        <p:spPr>
          <a:xfrm>
            <a:off x="16604517" y="5799171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558000CD-E826-46AF-0824-726CFDBEC003}"/>
              </a:ext>
            </a:extLst>
          </p:cNvPr>
          <p:cNvSpPr/>
          <p:nvPr/>
        </p:nvSpPr>
        <p:spPr>
          <a:xfrm>
            <a:off x="16604517" y="13464263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7" name="Elbow Connector 86">
            <a:extLst>
              <a:ext uri="{FF2B5EF4-FFF2-40B4-BE49-F238E27FC236}">
                <a16:creationId xmlns:a16="http://schemas.microsoft.com/office/drawing/2014/main" id="{E3072726-9638-13B3-D991-18A75A79BD02}"/>
              </a:ext>
            </a:extLst>
          </p:cNvPr>
          <p:cNvCxnSpPr>
            <a:cxnSpLocks/>
          </p:cNvCxnSpPr>
          <p:nvPr/>
        </p:nvCxnSpPr>
        <p:spPr>
          <a:xfrm flipV="1">
            <a:off x="11021384" y="5613906"/>
            <a:ext cx="3420193" cy="444988"/>
          </a:xfrm>
          <a:prstGeom prst="bentConnector3">
            <a:avLst>
              <a:gd name="adj1" fmla="val 99983"/>
            </a:avLst>
          </a:prstGeom>
          <a:ln w="24130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BFDCA724-73AD-FA2E-0A0A-16D28EA01D0E}"/>
              </a:ext>
            </a:extLst>
          </p:cNvPr>
          <p:cNvSpPr/>
          <p:nvPr/>
        </p:nvSpPr>
        <p:spPr>
          <a:xfrm>
            <a:off x="16604517" y="3697873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mass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EA2BDE-BF11-CC00-EBDB-EB0105847B29}"/>
              </a:ext>
            </a:extLst>
          </p:cNvPr>
          <p:cNvSpPr/>
          <p:nvPr/>
        </p:nvSpPr>
        <p:spPr>
          <a:xfrm>
            <a:off x="14189827" y="4726005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:C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A655B90C-2244-93CD-D8FB-7D4F029C8B3D}"/>
              </a:ext>
            </a:extLst>
          </p:cNvPr>
          <p:cNvSpPr/>
          <p:nvPr/>
        </p:nvSpPr>
        <p:spPr>
          <a:xfrm>
            <a:off x="16604517" y="11362965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mass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EC75B992-F2B7-7557-142E-D6B514093A11}"/>
              </a:ext>
            </a:extLst>
          </p:cNvPr>
          <p:cNvSpPr txBox="1"/>
          <p:nvPr/>
        </p:nvSpPr>
        <p:spPr>
          <a:xfrm>
            <a:off x="7170675" y="7431412"/>
            <a:ext cx="4140942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Fisher’s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=10.510,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=0.397, df=12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977F5606-C18A-FCDA-53AA-381312569199}"/>
              </a:ext>
            </a:extLst>
          </p:cNvPr>
          <p:cNvSpPr txBox="1"/>
          <p:nvPr/>
        </p:nvSpPr>
        <p:spPr>
          <a:xfrm>
            <a:off x="7170675" y="15068776"/>
            <a:ext cx="3998274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Fisher’s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=9.069,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=0.827, df=14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B79DF2D4-C031-E5C2-22C8-81C6CA72681F}"/>
              </a:ext>
            </a:extLst>
          </p:cNvPr>
          <p:cNvSpPr txBox="1"/>
          <p:nvPr/>
        </p:nvSpPr>
        <p:spPr>
          <a:xfrm>
            <a:off x="5315685" y="464948"/>
            <a:ext cx="9380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658D005A-B0F6-10DD-76F0-A8D13C6103D6}"/>
              </a:ext>
            </a:extLst>
          </p:cNvPr>
          <p:cNvSpPr txBox="1"/>
          <p:nvPr/>
        </p:nvSpPr>
        <p:spPr>
          <a:xfrm>
            <a:off x="5315685" y="8132543"/>
            <a:ext cx="9380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65F8E9F-E834-9ABE-9BDB-E4F49A677C70}"/>
              </a:ext>
            </a:extLst>
          </p:cNvPr>
          <p:cNvSpPr/>
          <p:nvPr/>
        </p:nvSpPr>
        <p:spPr>
          <a:xfrm>
            <a:off x="9002017" y="5809849"/>
            <a:ext cx="2011416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availability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EBA157D6-87D2-8B38-DFEF-790A0FABB301}"/>
              </a:ext>
            </a:extLst>
          </p:cNvPr>
          <p:cNvCxnSpPr>
            <a:stCxn id="124" idx="0"/>
          </p:cNvCxnSpPr>
          <p:nvPr/>
        </p:nvCxnSpPr>
        <p:spPr>
          <a:xfrm rot="5400000" flipH="1" flipV="1">
            <a:off x="15527925" y="11348712"/>
            <a:ext cx="613986" cy="1470785"/>
          </a:xfrm>
          <a:prstGeom prst="bentConnector2">
            <a:avLst/>
          </a:prstGeom>
          <a:ln w="6350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A1A8904F-9C63-BD23-98F4-43E19F530F2B}"/>
              </a:ext>
            </a:extLst>
          </p:cNvPr>
          <p:cNvCxnSpPr>
            <a:stCxn id="124" idx="2"/>
          </p:cNvCxnSpPr>
          <p:nvPr/>
        </p:nvCxnSpPr>
        <p:spPr>
          <a:xfrm rot="16200000" flipH="1">
            <a:off x="15517641" y="12850204"/>
            <a:ext cx="634554" cy="1470785"/>
          </a:xfrm>
          <a:prstGeom prst="bentConnector2">
            <a:avLst/>
          </a:prstGeom>
          <a:ln w="6350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0F8BE9C6-61DD-5512-D9DB-70948F0F8AEA}"/>
              </a:ext>
            </a:extLst>
          </p:cNvPr>
          <p:cNvCxnSpPr>
            <a:cxnSpLocks/>
          </p:cNvCxnSpPr>
          <p:nvPr/>
        </p:nvCxnSpPr>
        <p:spPr>
          <a:xfrm>
            <a:off x="10682548" y="11811000"/>
            <a:ext cx="3658926" cy="559663"/>
          </a:xfrm>
          <a:prstGeom prst="bentConnector3">
            <a:avLst>
              <a:gd name="adj1" fmla="val 100032"/>
            </a:avLst>
          </a:prstGeom>
          <a:ln w="6350">
            <a:solidFill>
              <a:schemeClr val="tx1"/>
            </a:solidFill>
            <a:prstDash val="lg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Rectangle 124">
            <a:extLst>
              <a:ext uri="{FF2B5EF4-FFF2-40B4-BE49-F238E27FC236}">
                <a16:creationId xmlns:a16="http://schemas.microsoft.com/office/drawing/2014/main" id="{A0C0FCEF-786B-D1E0-C000-42131D0B07A3}"/>
              </a:ext>
            </a:extLst>
          </p:cNvPr>
          <p:cNvSpPr/>
          <p:nvPr/>
        </p:nvSpPr>
        <p:spPr>
          <a:xfrm>
            <a:off x="9098026" y="11361982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Soil moisture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4C69F98-27F0-AA7E-4048-E78F4A1B3BFA}"/>
              </a:ext>
            </a:extLst>
          </p:cNvPr>
          <p:cNvGrpSpPr/>
          <p:nvPr/>
        </p:nvGrpSpPr>
        <p:grpSpPr>
          <a:xfrm>
            <a:off x="10049956" y="16314463"/>
            <a:ext cx="7365553" cy="1333409"/>
            <a:chOff x="10559644" y="16560396"/>
            <a:chExt cx="7365553" cy="1333409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9E098F6-F9A1-FFBC-5277-F90DC8998717}"/>
                </a:ext>
              </a:extLst>
            </p:cNvPr>
            <p:cNvSpPr txBox="1"/>
            <p:nvPr/>
          </p:nvSpPr>
          <p:spPr>
            <a:xfrm>
              <a:off x="17090476" y="16745139"/>
              <a:ext cx="718466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Arial" panose="020B0604020202020204" pitchFamily="34" charset="0"/>
                  <a:cs typeface="Arial" panose="020B0604020202020204" pitchFamily="34" charset="0"/>
                </a:rPr>
                <a:t>NS</a:t>
              </a: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A35F5F89-CB71-57A8-231D-10EC8166F377}"/>
                </a:ext>
              </a:extLst>
            </p:cNvPr>
            <p:cNvGrpSpPr/>
            <p:nvPr/>
          </p:nvGrpSpPr>
          <p:grpSpPr>
            <a:xfrm>
              <a:off x="10559644" y="16560396"/>
              <a:ext cx="7208824" cy="1333409"/>
              <a:chOff x="9836749" y="13266385"/>
              <a:chExt cx="7208824" cy="1333409"/>
            </a:xfrm>
          </p:grpSpPr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42DE8418-4689-FB6B-7870-ADE273C57A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510490" y="13425953"/>
                <a:ext cx="951115" cy="0"/>
              </a:xfrm>
              <a:prstGeom prst="line">
                <a:avLst/>
              </a:prstGeom>
              <a:ln w="952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D21DCA6D-8B6C-2641-C4D5-09059CC1D6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77418" y="13446974"/>
                <a:ext cx="951115" cy="0"/>
              </a:xfrm>
              <a:prstGeom prst="line">
                <a:avLst/>
              </a:prstGeom>
              <a:ln w="476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DC2C5DCC-A7CE-C125-60CB-7DA44DAD98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349853" y="13429128"/>
                <a:ext cx="951115" cy="0"/>
              </a:xfrm>
              <a:prstGeom prst="line">
                <a:avLst/>
              </a:prstGeom>
              <a:ln w="952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36A6FC25-6D7B-5EAC-158D-94ACC52369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97410" y="13451128"/>
                <a:ext cx="951115" cy="0"/>
              </a:xfrm>
              <a:prstGeom prst="line">
                <a:avLst/>
              </a:prstGeom>
              <a:ln w="4762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C128DBA-6FF7-F48F-3576-6E4E54C77B35}"/>
                  </a:ext>
                </a:extLst>
              </p:cNvPr>
              <p:cNvSpPr txBox="1"/>
              <p:nvPr/>
            </p:nvSpPr>
            <p:spPr>
              <a:xfrm>
                <a:off x="12510871" y="13433721"/>
                <a:ext cx="84670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-0.9</a:t>
                </a: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DA28404B-CB1C-3AA7-D1D1-31D8CAB2BE1C}"/>
                  </a:ext>
                </a:extLst>
              </p:cNvPr>
              <p:cNvSpPr txBox="1"/>
              <p:nvPr/>
            </p:nvSpPr>
            <p:spPr>
              <a:xfrm>
                <a:off x="13501953" y="13440763"/>
                <a:ext cx="71846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0.9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AFF09DA8-E5E3-A4BE-EE7A-3E2E24E151FA}"/>
                  </a:ext>
                </a:extLst>
              </p:cNvPr>
              <p:cNvSpPr txBox="1"/>
              <p:nvPr/>
            </p:nvSpPr>
            <p:spPr>
              <a:xfrm>
                <a:off x="11560010" y="13440763"/>
                <a:ext cx="84670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-0.6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3B8A9511-CB31-E574-991E-18E527801199}"/>
                  </a:ext>
                </a:extLst>
              </p:cNvPr>
              <p:cNvSpPr txBox="1"/>
              <p:nvPr/>
            </p:nvSpPr>
            <p:spPr>
              <a:xfrm>
                <a:off x="14475866" y="13444216"/>
                <a:ext cx="71846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0.6</a:t>
                </a: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3B7C6F4F-A41C-E2FF-4F6B-989806B16A3B}"/>
                  </a:ext>
                </a:extLst>
              </p:cNvPr>
              <p:cNvSpPr txBox="1"/>
              <p:nvPr/>
            </p:nvSpPr>
            <p:spPr>
              <a:xfrm>
                <a:off x="15416682" y="13426392"/>
                <a:ext cx="71846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0.3</a:t>
                </a: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2E3D2220-E330-23E8-21CC-0C1E6FDBADE8}"/>
                  </a:ext>
                </a:extLst>
              </p:cNvPr>
              <p:cNvSpPr txBox="1"/>
              <p:nvPr/>
            </p:nvSpPr>
            <p:spPr>
              <a:xfrm>
                <a:off x="10624830" y="13445817"/>
                <a:ext cx="84670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-0.3</a:t>
                </a: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9885F1AB-F824-228A-982B-D14BA6ACE5C5}"/>
                  </a:ext>
                </a:extLst>
              </p:cNvPr>
              <p:cNvSpPr txBox="1"/>
              <p:nvPr/>
            </p:nvSpPr>
            <p:spPr>
              <a:xfrm>
                <a:off x="11639882" y="14045796"/>
                <a:ext cx="469551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Standardized Coefficient</a:t>
                </a:r>
              </a:p>
            </p:txBody>
          </p: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91276440-987C-CD17-7D44-7F813F619A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453667" y="13380736"/>
                <a:ext cx="951115" cy="0"/>
              </a:xfrm>
              <a:prstGeom prst="line">
                <a:avLst/>
              </a:prstGeom>
              <a:ln w="1905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9AFC6632-B70B-DABC-CC60-5F2A412DFC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401607" y="13379744"/>
                <a:ext cx="951115" cy="0"/>
              </a:xfrm>
              <a:prstGeom prst="line">
                <a:avLst/>
              </a:prstGeom>
              <a:ln w="19050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A4B28BAD-1A63-EDB9-6998-15148941B5BB}"/>
                  </a:ext>
                </a:extLst>
              </p:cNvPr>
              <p:cNvSpPr/>
              <p:nvPr/>
            </p:nvSpPr>
            <p:spPr>
              <a:xfrm>
                <a:off x="10539776" y="13475193"/>
                <a:ext cx="5751830" cy="5685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F378FD2E-5818-492B-EF3C-7D53E7B4D776}"/>
                  </a:ext>
                </a:extLst>
              </p:cNvPr>
              <p:cNvSpPr/>
              <p:nvPr/>
            </p:nvSpPr>
            <p:spPr>
              <a:xfrm>
                <a:off x="9836749" y="13470593"/>
                <a:ext cx="7010400" cy="4571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905F9EDD-1542-0956-888D-D6CB10D4E47C}"/>
                  </a:ext>
                </a:extLst>
              </p:cNvPr>
              <p:cNvSpPr/>
              <p:nvPr/>
            </p:nvSpPr>
            <p:spPr>
              <a:xfrm>
                <a:off x="10035173" y="13266385"/>
                <a:ext cx="7010400" cy="4571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4D99F997-C3A2-8602-122D-B4B0225C9CF5}"/>
                </a:ext>
              </a:extLst>
            </p:cNvPr>
            <p:cNvCxnSpPr>
              <a:cxnSpLocks/>
            </p:cNvCxnSpPr>
            <p:nvPr/>
          </p:nvCxnSpPr>
          <p:spPr>
            <a:xfrm>
              <a:off x="16974221" y="16750749"/>
              <a:ext cx="950976" cy="0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988D3190-D4A2-21AC-AD22-74FE036646F8}"/>
              </a:ext>
            </a:extLst>
          </p:cNvPr>
          <p:cNvCxnSpPr>
            <a:cxnSpLocks/>
            <a:stCxn id="23" idx="2"/>
          </p:cNvCxnSpPr>
          <p:nvPr/>
        </p:nvCxnSpPr>
        <p:spPr>
          <a:xfrm rot="16200000" flipH="1">
            <a:off x="10557720" y="4024117"/>
            <a:ext cx="358513" cy="1458503"/>
          </a:xfrm>
          <a:prstGeom prst="bentConnector2">
            <a:avLst/>
          </a:prstGeom>
          <a:ln w="35560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376D494D-2D9F-15FC-1EF1-8E00AC5D0AD2}"/>
              </a:ext>
            </a:extLst>
          </p:cNvPr>
          <p:cNvCxnSpPr>
            <a:cxnSpLocks/>
          </p:cNvCxnSpPr>
          <p:nvPr/>
        </p:nvCxnSpPr>
        <p:spPr>
          <a:xfrm flipV="1">
            <a:off x="10624673" y="13275675"/>
            <a:ext cx="3726379" cy="639746"/>
          </a:xfrm>
          <a:prstGeom prst="bentConnector3">
            <a:avLst>
              <a:gd name="adj1" fmla="val 100009"/>
            </a:avLst>
          </a:prstGeom>
          <a:ln w="6350">
            <a:solidFill>
              <a:schemeClr val="tx1"/>
            </a:solidFill>
            <a:prstDash val="lg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Rectangle 132">
            <a:extLst>
              <a:ext uri="{FF2B5EF4-FFF2-40B4-BE49-F238E27FC236}">
                <a16:creationId xmlns:a16="http://schemas.microsoft.com/office/drawing/2014/main" id="{E5EBCBF3-8953-20A8-A43E-D6385DA62535}"/>
              </a:ext>
            </a:extLst>
          </p:cNvPr>
          <p:cNvSpPr/>
          <p:nvPr/>
        </p:nvSpPr>
        <p:spPr>
          <a:xfrm>
            <a:off x="9002017" y="13474941"/>
            <a:ext cx="2011416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availability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F806E9B-62B4-25CB-687A-823A5B501D03}"/>
              </a:ext>
            </a:extLst>
          </p:cNvPr>
          <p:cNvSpPr/>
          <p:nvPr/>
        </p:nvSpPr>
        <p:spPr>
          <a:xfrm>
            <a:off x="9098026" y="3696890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Soil moisture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6D68CAF-D7E4-8715-DD1A-76CC6EE64D02}"/>
              </a:ext>
            </a:extLst>
          </p:cNvPr>
          <p:cNvCxnSpPr>
            <a:cxnSpLocks/>
            <a:stCxn id="20" idx="2"/>
          </p:cNvCxnSpPr>
          <p:nvPr/>
        </p:nvCxnSpPr>
        <p:spPr>
          <a:xfrm>
            <a:off x="14732884" y="3230103"/>
            <a:ext cx="0" cy="1480815"/>
          </a:xfrm>
          <a:prstGeom prst="straightConnector1">
            <a:avLst/>
          </a:prstGeom>
          <a:ln w="60578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A63B3748-DB09-BACF-29F8-3CBE12A4D11C}"/>
              </a:ext>
            </a:extLst>
          </p:cNvPr>
          <p:cNvSpPr/>
          <p:nvPr/>
        </p:nvSpPr>
        <p:spPr>
          <a:xfrm>
            <a:off x="13823185" y="2352880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VPD</a:t>
            </a:r>
            <a:r>
              <a:rPr lang="en-US" sz="2400" b="1" i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90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F13C262-DB58-7915-83D1-38A23203A294}"/>
              </a:ext>
            </a:extLst>
          </p:cNvPr>
          <p:cNvCxnSpPr>
            <a:stCxn id="25" idx="2"/>
          </p:cNvCxnSpPr>
          <p:nvPr/>
        </p:nvCxnSpPr>
        <p:spPr>
          <a:xfrm flipH="1">
            <a:off x="14727049" y="10860524"/>
            <a:ext cx="5835" cy="1523265"/>
          </a:xfrm>
          <a:prstGeom prst="straightConnector1">
            <a:avLst/>
          </a:prstGeom>
          <a:ln w="6350">
            <a:solidFill>
              <a:schemeClr val="tx1"/>
            </a:solidFill>
            <a:prstDash val="lg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7B514C3B-3E3F-BB77-3FAB-B1A67A2641A0}"/>
              </a:ext>
            </a:extLst>
          </p:cNvPr>
          <p:cNvSpPr/>
          <p:nvPr/>
        </p:nvSpPr>
        <p:spPr>
          <a:xfrm>
            <a:off x="13823185" y="9983301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VPD</a:t>
            </a:r>
            <a:r>
              <a:rPr lang="en-US" sz="2400" b="1" i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60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6106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A05CB-A98C-AE3D-0ACE-43354EA93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108">
            <a:extLst>
              <a:ext uri="{FF2B5EF4-FFF2-40B4-BE49-F238E27FC236}">
                <a16:creationId xmlns:a16="http://schemas.microsoft.com/office/drawing/2014/main" id="{A392D9FD-9AC2-E8C1-84D7-A1AB05989687}"/>
              </a:ext>
            </a:extLst>
          </p:cNvPr>
          <p:cNvSpPr/>
          <p:nvPr/>
        </p:nvSpPr>
        <p:spPr>
          <a:xfrm>
            <a:off x="10049956" y="956357"/>
            <a:ext cx="10943454" cy="6638544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3482061-41D1-6881-191C-A51E2C36F0FC}"/>
              </a:ext>
            </a:extLst>
          </p:cNvPr>
          <p:cNvCxnSpPr>
            <a:cxnSpLocks/>
          </p:cNvCxnSpPr>
          <p:nvPr/>
        </p:nvCxnSpPr>
        <p:spPr>
          <a:xfrm>
            <a:off x="13447730" y="3219659"/>
            <a:ext cx="2965974" cy="0"/>
          </a:xfrm>
          <a:prstGeom prst="straightConnector1">
            <a:avLst/>
          </a:prstGeom>
          <a:ln w="23876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A3E8FB3-A4F8-A527-BBD1-4B8EAFACCC8E}"/>
              </a:ext>
            </a:extLst>
          </p:cNvPr>
          <p:cNvCxnSpPr>
            <a:cxnSpLocks/>
          </p:cNvCxnSpPr>
          <p:nvPr/>
        </p:nvCxnSpPr>
        <p:spPr>
          <a:xfrm>
            <a:off x="16971420" y="16761203"/>
            <a:ext cx="0" cy="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DE91408C-B027-1F29-F4BC-3425D67B7A4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5381789" y="2973342"/>
            <a:ext cx="606296" cy="1504990"/>
          </a:xfrm>
          <a:prstGeom prst="bentConnector2">
            <a:avLst/>
          </a:prstGeom>
          <a:ln w="37846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2195DFB8-E22D-CB1D-4F38-EB43DAF8FC24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367660" y="4517510"/>
            <a:ext cx="634555" cy="1504991"/>
          </a:xfrm>
          <a:prstGeom prst="bentConnector2">
            <a:avLst/>
          </a:prstGeom>
          <a:ln w="46609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CDC1FAA4-3CE4-F9BB-F41A-BEC95A9C0FC9}"/>
              </a:ext>
            </a:extLst>
          </p:cNvPr>
          <p:cNvCxnSpPr>
            <a:cxnSpLocks/>
            <a:stCxn id="19" idx="0"/>
            <a:endCxn id="17" idx="0"/>
          </p:cNvCxnSpPr>
          <p:nvPr/>
        </p:nvCxnSpPr>
        <p:spPr>
          <a:xfrm rot="16200000" flipH="1">
            <a:off x="17954940" y="2423523"/>
            <a:ext cx="1061295" cy="2276912"/>
          </a:xfrm>
          <a:prstGeom prst="bentConnector3">
            <a:avLst>
              <a:gd name="adj1" fmla="val -21540"/>
            </a:avLst>
          </a:prstGeom>
          <a:ln w="18986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F11DDB17-B8F1-ABF1-CDCB-241FA23C8300}"/>
              </a:ext>
            </a:extLst>
          </p:cNvPr>
          <p:cNvCxnSpPr>
            <a:cxnSpLocks/>
            <a:stCxn id="18" idx="2"/>
            <a:endCxn id="17" idx="2"/>
          </p:cNvCxnSpPr>
          <p:nvPr/>
        </p:nvCxnSpPr>
        <p:spPr>
          <a:xfrm rot="5400000" flipH="1" flipV="1">
            <a:off x="17965586" y="4351396"/>
            <a:ext cx="1040003" cy="2276912"/>
          </a:xfrm>
          <a:prstGeom prst="bentConnector3">
            <a:avLst>
              <a:gd name="adj1" fmla="val -21981"/>
            </a:avLst>
          </a:prstGeom>
          <a:ln w="20383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44A12747-8AAC-DAD2-3D06-DB07F5DAF9C1}"/>
              </a:ext>
            </a:extLst>
          </p:cNvPr>
          <p:cNvSpPr/>
          <p:nvPr/>
        </p:nvSpPr>
        <p:spPr>
          <a:xfrm>
            <a:off x="18714345" y="4092627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Ν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C294160-9223-BFEA-4C99-E0CBD17D832E}"/>
              </a:ext>
            </a:extLst>
          </p:cNvPr>
          <p:cNvCxnSpPr>
            <a:cxnSpLocks/>
          </p:cNvCxnSpPr>
          <p:nvPr/>
        </p:nvCxnSpPr>
        <p:spPr>
          <a:xfrm flipV="1">
            <a:off x="13548076" y="5844892"/>
            <a:ext cx="2889357" cy="5364"/>
          </a:xfrm>
          <a:prstGeom prst="straightConnector1">
            <a:avLst/>
          </a:prstGeom>
          <a:ln w="58674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FF00C73-BDA9-C380-8DB5-3DD3207C756F}"/>
              </a:ext>
            </a:extLst>
          </p:cNvPr>
          <p:cNvCxnSpPr>
            <a:stCxn id="18" idx="0"/>
            <a:endCxn id="19" idx="2"/>
          </p:cNvCxnSpPr>
          <p:nvPr/>
        </p:nvCxnSpPr>
        <p:spPr>
          <a:xfrm flipV="1">
            <a:off x="17347132" y="3908555"/>
            <a:ext cx="0" cy="1224075"/>
          </a:xfrm>
          <a:prstGeom prst="straightConnector1">
            <a:avLst/>
          </a:prstGeom>
          <a:ln w="78740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ectangle 110">
            <a:extLst>
              <a:ext uri="{FF2B5EF4-FFF2-40B4-BE49-F238E27FC236}">
                <a16:creationId xmlns:a16="http://schemas.microsoft.com/office/drawing/2014/main" id="{45091FA6-1D7D-9AE8-E2AD-51AFC166B187}"/>
              </a:ext>
            </a:extLst>
          </p:cNvPr>
          <p:cNvSpPr/>
          <p:nvPr/>
        </p:nvSpPr>
        <p:spPr>
          <a:xfrm>
            <a:off x="10049956" y="9169171"/>
            <a:ext cx="10943454" cy="6638544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1ABB4193-9CC8-5248-93F8-02F7A4CAF9D4}"/>
              </a:ext>
            </a:extLst>
          </p:cNvPr>
          <p:cNvSpPr/>
          <p:nvPr/>
        </p:nvSpPr>
        <p:spPr>
          <a:xfrm>
            <a:off x="10402375" y="458026"/>
            <a:ext cx="2359152" cy="100584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8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species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083CC5E6-5127-11F5-7C92-A11259C2F4D0}"/>
              </a:ext>
            </a:extLst>
          </p:cNvPr>
          <p:cNvSpPr/>
          <p:nvPr/>
        </p:nvSpPr>
        <p:spPr>
          <a:xfrm>
            <a:off x="10343092" y="8633098"/>
            <a:ext cx="2359152" cy="100584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8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species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0B6C1FE-DC44-2CEB-2718-1DC362FE3FD0}"/>
              </a:ext>
            </a:extLst>
          </p:cNvPr>
          <p:cNvSpPr/>
          <p:nvPr/>
        </p:nvSpPr>
        <p:spPr>
          <a:xfrm>
            <a:off x="16437433" y="5132630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16E22F-4C80-D5A1-1C4C-CD9BAAC9A02A}"/>
              </a:ext>
            </a:extLst>
          </p:cNvPr>
          <p:cNvSpPr/>
          <p:nvPr/>
        </p:nvSpPr>
        <p:spPr>
          <a:xfrm>
            <a:off x="16437433" y="3031332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mass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AE7CE4-BB10-0D12-EC58-8EF5697F888A}"/>
              </a:ext>
            </a:extLst>
          </p:cNvPr>
          <p:cNvSpPr/>
          <p:nvPr/>
        </p:nvSpPr>
        <p:spPr>
          <a:xfrm>
            <a:off x="14128918" y="4042118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400" b="1" baseline="-25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4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:C</a:t>
            </a:r>
            <a:r>
              <a:rPr lang="en-US" sz="2400" b="1" baseline="-25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sz="2400" b="1" baseline="-25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1056B442-BC94-748F-C6DB-20A1CCE0276C}"/>
              </a:ext>
            </a:extLst>
          </p:cNvPr>
          <p:cNvSpPr txBox="1"/>
          <p:nvPr/>
        </p:nvSpPr>
        <p:spPr>
          <a:xfrm>
            <a:off x="13529445" y="6887077"/>
            <a:ext cx="3979231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Fisher’s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=0.420,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=0.811, df=2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2A1473DE-7F29-58F5-1604-69787391A6A7}"/>
              </a:ext>
            </a:extLst>
          </p:cNvPr>
          <p:cNvSpPr txBox="1"/>
          <p:nvPr/>
        </p:nvSpPr>
        <p:spPr>
          <a:xfrm>
            <a:off x="13591258" y="15178269"/>
            <a:ext cx="3855607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Fisher’s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=5.490,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=0.483, df=6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71AC5A3B-B150-33C8-EDA2-FE47B2E314CD}"/>
              </a:ext>
            </a:extLst>
          </p:cNvPr>
          <p:cNvSpPr txBox="1"/>
          <p:nvPr/>
        </p:nvSpPr>
        <p:spPr>
          <a:xfrm>
            <a:off x="8777338" y="125360"/>
            <a:ext cx="9380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3AFC9E7A-6FDA-6CC1-4A9A-9DB6298CE8D9}"/>
              </a:ext>
            </a:extLst>
          </p:cNvPr>
          <p:cNvSpPr txBox="1"/>
          <p:nvPr/>
        </p:nvSpPr>
        <p:spPr>
          <a:xfrm>
            <a:off x="8777339" y="8338174"/>
            <a:ext cx="9380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A89D759-20DF-A6FF-8445-FA9B279D3082}"/>
              </a:ext>
            </a:extLst>
          </p:cNvPr>
          <p:cNvGrpSpPr/>
          <p:nvPr/>
        </p:nvGrpSpPr>
        <p:grpSpPr>
          <a:xfrm>
            <a:off x="10049956" y="16314463"/>
            <a:ext cx="7365553" cy="1333409"/>
            <a:chOff x="10559644" y="16560396"/>
            <a:chExt cx="7365553" cy="1333409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36096FE-7176-9C20-7138-8DDE66309811}"/>
                </a:ext>
              </a:extLst>
            </p:cNvPr>
            <p:cNvSpPr txBox="1"/>
            <p:nvPr/>
          </p:nvSpPr>
          <p:spPr>
            <a:xfrm>
              <a:off x="17090476" y="16745139"/>
              <a:ext cx="718466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Arial" panose="020B0604020202020204" pitchFamily="34" charset="0"/>
                  <a:cs typeface="Arial" panose="020B0604020202020204" pitchFamily="34" charset="0"/>
                </a:rPr>
                <a:t>NS</a:t>
              </a: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36439E13-767C-7862-1B87-99CD1AF960DE}"/>
                </a:ext>
              </a:extLst>
            </p:cNvPr>
            <p:cNvGrpSpPr/>
            <p:nvPr/>
          </p:nvGrpSpPr>
          <p:grpSpPr>
            <a:xfrm>
              <a:off x="10559644" y="16560396"/>
              <a:ext cx="7208824" cy="1333409"/>
              <a:chOff x="9836749" y="13266385"/>
              <a:chExt cx="7208824" cy="1333409"/>
            </a:xfrm>
          </p:grpSpPr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C17F9C1A-B2AD-D36B-F30E-8AEAC71772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510490" y="13425953"/>
                <a:ext cx="951115" cy="0"/>
              </a:xfrm>
              <a:prstGeom prst="line">
                <a:avLst/>
              </a:prstGeom>
              <a:ln w="952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17D51115-642E-262C-73C8-4840F2675B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77418" y="13446974"/>
                <a:ext cx="951115" cy="0"/>
              </a:xfrm>
              <a:prstGeom prst="line">
                <a:avLst/>
              </a:prstGeom>
              <a:ln w="476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56A9762A-2689-4907-C10F-0A3267D853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349853" y="13429128"/>
                <a:ext cx="951115" cy="0"/>
              </a:xfrm>
              <a:prstGeom prst="line">
                <a:avLst/>
              </a:prstGeom>
              <a:ln w="952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E0852926-F893-96F1-C15C-077A079B4A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97410" y="13451128"/>
                <a:ext cx="951115" cy="0"/>
              </a:xfrm>
              <a:prstGeom prst="line">
                <a:avLst/>
              </a:prstGeom>
              <a:ln w="4762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76E227AB-4384-CC5A-A81A-445C4A079958}"/>
                  </a:ext>
                </a:extLst>
              </p:cNvPr>
              <p:cNvSpPr txBox="1"/>
              <p:nvPr/>
            </p:nvSpPr>
            <p:spPr>
              <a:xfrm>
                <a:off x="12510871" y="13433721"/>
                <a:ext cx="84670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-0.9</a:t>
                </a: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50B186DC-4DF6-F1A6-634D-8E5FE77A8184}"/>
                  </a:ext>
                </a:extLst>
              </p:cNvPr>
              <p:cNvSpPr txBox="1"/>
              <p:nvPr/>
            </p:nvSpPr>
            <p:spPr>
              <a:xfrm>
                <a:off x="13501953" y="13440763"/>
                <a:ext cx="71846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0.9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60542362-DAE5-5410-0A26-45C51712472A}"/>
                  </a:ext>
                </a:extLst>
              </p:cNvPr>
              <p:cNvSpPr txBox="1"/>
              <p:nvPr/>
            </p:nvSpPr>
            <p:spPr>
              <a:xfrm>
                <a:off x="11560010" y="13440763"/>
                <a:ext cx="84670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-0.6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EF9E40D1-73A7-662A-22E9-917DC7B62A0E}"/>
                  </a:ext>
                </a:extLst>
              </p:cNvPr>
              <p:cNvSpPr txBox="1"/>
              <p:nvPr/>
            </p:nvSpPr>
            <p:spPr>
              <a:xfrm>
                <a:off x="14475866" y="13444216"/>
                <a:ext cx="71846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0.6</a:t>
                </a: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1A3D44D9-676A-85AA-1921-67243DB9717A}"/>
                  </a:ext>
                </a:extLst>
              </p:cNvPr>
              <p:cNvSpPr txBox="1"/>
              <p:nvPr/>
            </p:nvSpPr>
            <p:spPr>
              <a:xfrm>
                <a:off x="15416682" y="13426392"/>
                <a:ext cx="71846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0.3</a:t>
                </a: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19DC00FC-50BC-9C73-210C-EED7C70C5462}"/>
                  </a:ext>
                </a:extLst>
              </p:cNvPr>
              <p:cNvSpPr txBox="1"/>
              <p:nvPr/>
            </p:nvSpPr>
            <p:spPr>
              <a:xfrm>
                <a:off x="10624830" y="13445817"/>
                <a:ext cx="84670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-0.3</a:t>
                </a: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58D72D6E-2A29-C122-99EA-54EE8DF39A61}"/>
                  </a:ext>
                </a:extLst>
              </p:cNvPr>
              <p:cNvSpPr txBox="1"/>
              <p:nvPr/>
            </p:nvSpPr>
            <p:spPr>
              <a:xfrm>
                <a:off x="11639882" y="14045796"/>
                <a:ext cx="469551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Standardized Coefficient</a:t>
                </a:r>
              </a:p>
            </p:txBody>
          </p: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FEE71507-ECF6-B333-6F82-BFFD28D359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453667" y="13380736"/>
                <a:ext cx="951115" cy="0"/>
              </a:xfrm>
              <a:prstGeom prst="line">
                <a:avLst/>
              </a:prstGeom>
              <a:ln w="1905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646F1121-7370-CF43-F234-A6ED3E5279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401607" y="13379744"/>
                <a:ext cx="951115" cy="0"/>
              </a:xfrm>
              <a:prstGeom prst="line">
                <a:avLst/>
              </a:prstGeom>
              <a:ln w="19050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A4290EC2-F6FA-5268-CB19-C405BB4EB4CA}"/>
                  </a:ext>
                </a:extLst>
              </p:cNvPr>
              <p:cNvSpPr/>
              <p:nvPr/>
            </p:nvSpPr>
            <p:spPr>
              <a:xfrm>
                <a:off x="10539776" y="13475193"/>
                <a:ext cx="5751830" cy="5685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71D5A15A-9CD4-3A93-776D-0CDE63820ADD}"/>
                  </a:ext>
                </a:extLst>
              </p:cNvPr>
              <p:cNvSpPr/>
              <p:nvPr/>
            </p:nvSpPr>
            <p:spPr>
              <a:xfrm>
                <a:off x="9836749" y="13470593"/>
                <a:ext cx="7010400" cy="4571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1B9CC4E2-7FA5-09CF-40F3-2B2338293F9E}"/>
                  </a:ext>
                </a:extLst>
              </p:cNvPr>
              <p:cNvSpPr/>
              <p:nvPr/>
            </p:nvSpPr>
            <p:spPr>
              <a:xfrm>
                <a:off x="10035173" y="13266385"/>
                <a:ext cx="7010400" cy="4571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1A6C10B-5483-44E2-13C9-B684CE85AB94}"/>
                </a:ext>
              </a:extLst>
            </p:cNvPr>
            <p:cNvCxnSpPr>
              <a:cxnSpLocks/>
            </p:cNvCxnSpPr>
            <p:nvPr/>
          </p:nvCxnSpPr>
          <p:spPr>
            <a:xfrm>
              <a:off x="16974221" y="16750749"/>
              <a:ext cx="950976" cy="0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7BBFCD09-D2B9-F82A-890E-5FF35BDD98D6}"/>
              </a:ext>
            </a:extLst>
          </p:cNvPr>
          <p:cNvSpPr/>
          <p:nvPr/>
        </p:nvSpPr>
        <p:spPr>
          <a:xfrm>
            <a:off x="11634869" y="2841362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Soil moisture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1132BFE-E6FD-D3D3-2ADC-0F647429D02E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 flipV="1">
            <a:off x="13444859" y="4480730"/>
            <a:ext cx="684059" cy="3492"/>
          </a:xfrm>
          <a:prstGeom prst="straightConnector1">
            <a:avLst/>
          </a:prstGeom>
          <a:ln w="85090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906459EA-F05A-181A-FB7D-D70A128BEF25}"/>
              </a:ext>
            </a:extLst>
          </p:cNvPr>
          <p:cNvSpPr/>
          <p:nvPr/>
        </p:nvSpPr>
        <p:spPr>
          <a:xfrm>
            <a:off x="11625461" y="4045610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VPD</a:t>
            </a:r>
            <a:r>
              <a:rPr lang="en-US" sz="2400" b="1" i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90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8796A47C-CDFD-6F2C-A72D-758B6E27A087}"/>
              </a:ext>
            </a:extLst>
          </p:cNvPr>
          <p:cNvCxnSpPr>
            <a:cxnSpLocks/>
          </p:cNvCxnSpPr>
          <p:nvPr/>
        </p:nvCxnSpPr>
        <p:spPr>
          <a:xfrm flipV="1">
            <a:off x="12068792" y="3031332"/>
            <a:ext cx="4894292" cy="2664435"/>
          </a:xfrm>
          <a:prstGeom prst="bentConnector4">
            <a:avLst>
              <a:gd name="adj1" fmla="val -20573"/>
              <a:gd name="adj2" fmla="val 121765"/>
            </a:avLst>
          </a:prstGeom>
          <a:ln w="58166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20049C7D-2354-9DEC-4737-8A6E708BF274}"/>
              </a:ext>
            </a:extLst>
          </p:cNvPr>
          <p:cNvSpPr/>
          <p:nvPr/>
        </p:nvSpPr>
        <p:spPr>
          <a:xfrm>
            <a:off x="11502020" y="5340181"/>
            <a:ext cx="2011416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availability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B20B144-CE53-E2D3-8BDA-698632C9B924}"/>
              </a:ext>
            </a:extLst>
          </p:cNvPr>
          <p:cNvCxnSpPr>
            <a:cxnSpLocks/>
          </p:cNvCxnSpPr>
          <p:nvPr/>
        </p:nvCxnSpPr>
        <p:spPr>
          <a:xfrm>
            <a:off x="13424001" y="11446272"/>
            <a:ext cx="2965974" cy="0"/>
          </a:xfrm>
          <a:prstGeom prst="straightConnector1">
            <a:avLst/>
          </a:prstGeom>
          <a:ln w="6350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C0D3FEC9-E4DC-87B5-0A1F-B7371F3C376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5358060" y="11183330"/>
            <a:ext cx="606296" cy="1504990"/>
          </a:xfrm>
          <a:prstGeom prst="bentConnector2">
            <a:avLst/>
          </a:prstGeom>
          <a:ln w="6350">
            <a:solidFill>
              <a:schemeClr val="tx1"/>
            </a:solidFill>
            <a:prstDash val="lg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C08B2D26-D1E8-A548-A4AC-27070535E725}"/>
              </a:ext>
            </a:extLst>
          </p:cNvPr>
          <p:cNvCxnSpPr>
            <a:cxnSpLocks/>
            <a:stCxn id="61" idx="2"/>
            <a:endCxn id="58" idx="2"/>
          </p:cNvCxnSpPr>
          <p:nvPr/>
        </p:nvCxnSpPr>
        <p:spPr>
          <a:xfrm rot="5400000" flipH="1" flipV="1">
            <a:off x="17941857" y="12578009"/>
            <a:ext cx="1040003" cy="2276912"/>
          </a:xfrm>
          <a:prstGeom prst="bentConnector3">
            <a:avLst>
              <a:gd name="adj1" fmla="val -21981"/>
            </a:avLst>
          </a:prstGeom>
          <a:ln w="201549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8A620E64-60D5-75B4-E7C1-9308B5D13951}"/>
              </a:ext>
            </a:extLst>
          </p:cNvPr>
          <p:cNvSpPr/>
          <p:nvPr/>
        </p:nvSpPr>
        <p:spPr>
          <a:xfrm>
            <a:off x="18690616" y="12319240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Ν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97B3A42-7DED-622D-1BB0-D8BB236D827C}"/>
              </a:ext>
            </a:extLst>
          </p:cNvPr>
          <p:cNvCxnSpPr>
            <a:cxnSpLocks/>
          </p:cNvCxnSpPr>
          <p:nvPr/>
        </p:nvCxnSpPr>
        <p:spPr>
          <a:xfrm flipV="1">
            <a:off x="13524347" y="14071505"/>
            <a:ext cx="2889357" cy="5364"/>
          </a:xfrm>
          <a:prstGeom prst="straightConnector1">
            <a:avLst/>
          </a:prstGeom>
          <a:ln w="6350">
            <a:solidFill>
              <a:schemeClr val="tx1"/>
            </a:solidFill>
            <a:prstDash val="lg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CE6B927-D113-1F07-4D05-DF9361AE4301}"/>
              </a:ext>
            </a:extLst>
          </p:cNvPr>
          <p:cNvCxnSpPr>
            <a:stCxn id="61" idx="0"/>
            <a:endCxn id="62" idx="2"/>
          </p:cNvCxnSpPr>
          <p:nvPr/>
        </p:nvCxnSpPr>
        <p:spPr>
          <a:xfrm flipV="1">
            <a:off x="17323403" y="12135168"/>
            <a:ext cx="0" cy="1224075"/>
          </a:xfrm>
          <a:prstGeom prst="straightConnector1">
            <a:avLst/>
          </a:prstGeom>
          <a:ln w="119380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C1862689-1C56-D614-EFAB-7BEAA9D7C30D}"/>
              </a:ext>
            </a:extLst>
          </p:cNvPr>
          <p:cNvSpPr/>
          <p:nvPr/>
        </p:nvSpPr>
        <p:spPr>
          <a:xfrm>
            <a:off x="16413704" y="13359243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ED2E51A-AF27-3D82-8969-BD133BAA0628}"/>
              </a:ext>
            </a:extLst>
          </p:cNvPr>
          <p:cNvSpPr/>
          <p:nvPr/>
        </p:nvSpPr>
        <p:spPr>
          <a:xfrm>
            <a:off x="16413704" y="11257945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mass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18070A5-DF87-8881-95F7-967C1ABC5426}"/>
              </a:ext>
            </a:extLst>
          </p:cNvPr>
          <p:cNvSpPr/>
          <p:nvPr/>
        </p:nvSpPr>
        <p:spPr>
          <a:xfrm>
            <a:off x="14140123" y="12275343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:C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B3E729D-179D-6167-CD18-D993EB9C657D}"/>
              </a:ext>
            </a:extLst>
          </p:cNvPr>
          <p:cNvSpPr/>
          <p:nvPr/>
        </p:nvSpPr>
        <p:spPr>
          <a:xfrm>
            <a:off x="11611140" y="11067975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Soil moisture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6C4069E-FF15-1905-1610-25EE8047DC0E}"/>
              </a:ext>
            </a:extLst>
          </p:cNvPr>
          <p:cNvCxnSpPr>
            <a:cxnSpLocks/>
            <a:stCxn id="66" idx="3"/>
            <a:endCxn id="63" idx="1"/>
          </p:cNvCxnSpPr>
          <p:nvPr/>
        </p:nvCxnSpPr>
        <p:spPr>
          <a:xfrm>
            <a:off x="13421130" y="12710835"/>
            <a:ext cx="718993" cy="3120"/>
          </a:xfrm>
          <a:prstGeom prst="straightConnector1">
            <a:avLst/>
          </a:prstGeom>
          <a:ln w="85471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3DB85CB9-3089-47A8-90D3-66878E56FCBA}"/>
              </a:ext>
            </a:extLst>
          </p:cNvPr>
          <p:cNvSpPr/>
          <p:nvPr/>
        </p:nvSpPr>
        <p:spPr>
          <a:xfrm>
            <a:off x="11601732" y="12272223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VPD</a:t>
            </a:r>
            <a:r>
              <a:rPr lang="en-US" sz="2400" b="1" i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60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4" name="Elbow Connector 83">
            <a:extLst>
              <a:ext uri="{FF2B5EF4-FFF2-40B4-BE49-F238E27FC236}">
                <a16:creationId xmlns:a16="http://schemas.microsoft.com/office/drawing/2014/main" id="{DE3B2948-FBA9-72F9-C470-0AC28A64BDD3}"/>
              </a:ext>
            </a:extLst>
          </p:cNvPr>
          <p:cNvCxnSpPr>
            <a:cxnSpLocks/>
          </p:cNvCxnSpPr>
          <p:nvPr/>
        </p:nvCxnSpPr>
        <p:spPr>
          <a:xfrm flipV="1">
            <a:off x="12045063" y="11257945"/>
            <a:ext cx="4894292" cy="2664435"/>
          </a:xfrm>
          <a:prstGeom prst="bentConnector4">
            <a:avLst>
              <a:gd name="adj1" fmla="val -20573"/>
              <a:gd name="adj2" fmla="val 121765"/>
            </a:avLst>
          </a:prstGeom>
          <a:ln w="60706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tangle 84">
            <a:extLst>
              <a:ext uri="{FF2B5EF4-FFF2-40B4-BE49-F238E27FC236}">
                <a16:creationId xmlns:a16="http://schemas.microsoft.com/office/drawing/2014/main" id="{F3E89197-502D-12E5-23C4-D7B145444F83}"/>
              </a:ext>
            </a:extLst>
          </p:cNvPr>
          <p:cNvSpPr/>
          <p:nvPr/>
        </p:nvSpPr>
        <p:spPr>
          <a:xfrm>
            <a:off x="11478291" y="13566794"/>
            <a:ext cx="2011416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availability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0" name="Elbow Connector 89">
            <a:extLst>
              <a:ext uri="{FF2B5EF4-FFF2-40B4-BE49-F238E27FC236}">
                <a16:creationId xmlns:a16="http://schemas.microsoft.com/office/drawing/2014/main" id="{EB873145-6509-9EAD-43F8-CE2610B5FD4B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367659" y="12772233"/>
            <a:ext cx="634555" cy="1504991"/>
          </a:xfrm>
          <a:prstGeom prst="bentConnector2">
            <a:avLst/>
          </a:prstGeom>
          <a:ln w="6350">
            <a:solidFill>
              <a:schemeClr val="tx1"/>
            </a:solidFill>
            <a:prstDash val="lg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Elbow Connector 90">
            <a:extLst>
              <a:ext uri="{FF2B5EF4-FFF2-40B4-BE49-F238E27FC236}">
                <a16:creationId xmlns:a16="http://schemas.microsoft.com/office/drawing/2014/main" id="{EF1992BB-4F7F-F052-B78A-95F886BD121A}"/>
              </a:ext>
            </a:extLst>
          </p:cNvPr>
          <p:cNvCxnSpPr>
            <a:cxnSpLocks/>
          </p:cNvCxnSpPr>
          <p:nvPr/>
        </p:nvCxnSpPr>
        <p:spPr>
          <a:xfrm rot="16200000" flipH="1">
            <a:off x="17913698" y="10636283"/>
            <a:ext cx="1061295" cy="2276912"/>
          </a:xfrm>
          <a:prstGeom prst="bentConnector3">
            <a:avLst>
              <a:gd name="adj1" fmla="val -21540"/>
            </a:avLst>
          </a:prstGeom>
          <a:ln w="184023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7144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E946617-5668-FC07-AF90-958F518CC8B2}"/>
              </a:ext>
            </a:extLst>
          </p:cNvPr>
          <p:cNvSpPr/>
          <p:nvPr/>
        </p:nvSpPr>
        <p:spPr>
          <a:xfrm>
            <a:off x="2238811" y="8771407"/>
            <a:ext cx="10943454" cy="6638544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1314FD5-49A2-1E3C-2857-18EBD64F6C3A}"/>
              </a:ext>
            </a:extLst>
          </p:cNvPr>
          <p:cNvCxnSpPr>
            <a:cxnSpLocks/>
          </p:cNvCxnSpPr>
          <p:nvPr/>
        </p:nvCxnSpPr>
        <p:spPr>
          <a:xfrm>
            <a:off x="5636585" y="11034709"/>
            <a:ext cx="2965974" cy="0"/>
          </a:xfrm>
          <a:prstGeom prst="straightConnector1">
            <a:avLst/>
          </a:prstGeom>
          <a:ln w="87122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E2F8001F-9D3B-ED5C-0ACB-EC8C55F7DB1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570644" y="10788392"/>
            <a:ext cx="606296" cy="1504990"/>
          </a:xfrm>
          <a:prstGeom prst="bentConnector2">
            <a:avLst/>
          </a:prstGeom>
          <a:ln w="6350">
            <a:solidFill>
              <a:schemeClr val="tx1"/>
            </a:solidFill>
            <a:prstDash val="lg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BE7B56B3-586C-50B4-70B7-6FE9F1150892}"/>
              </a:ext>
            </a:extLst>
          </p:cNvPr>
          <p:cNvCxnSpPr>
            <a:cxnSpLocks/>
          </p:cNvCxnSpPr>
          <p:nvPr/>
        </p:nvCxnSpPr>
        <p:spPr>
          <a:xfrm rot="16200000" flipH="1">
            <a:off x="7556515" y="12332560"/>
            <a:ext cx="634555" cy="1504991"/>
          </a:xfrm>
          <a:prstGeom prst="bentConnector2">
            <a:avLst/>
          </a:prstGeom>
          <a:ln w="44196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5F6D494C-37A5-E8BA-BCE0-9B3FB2DD1550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10436480" y="11048510"/>
            <a:ext cx="1376419" cy="859167"/>
          </a:xfrm>
          <a:prstGeom prst="bentConnector2">
            <a:avLst/>
          </a:prstGeom>
          <a:ln w="222122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E506E008-360A-C62E-D378-0746D29A82E8}"/>
              </a:ext>
            </a:extLst>
          </p:cNvPr>
          <p:cNvCxnSpPr>
            <a:cxnSpLocks/>
            <a:endCxn id="15" idx="2"/>
          </p:cNvCxnSpPr>
          <p:nvPr/>
        </p:nvCxnSpPr>
        <p:spPr>
          <a:xfrm flipV="1">
            <a:off x="10445688" y="12784900"/>
            <a:ext cx="1367211" cy="888841"/>
          </a:xfrm>
          <a:prstGeom prst="bentConnector2">
            <a:avLst/>
          </a:prstGeom>
          <a:ln w="225297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032E6EE7-B39A-3443-BCA3-3CA762AB189F}"/>
              </a:ext>
            </a:extLst>
          </p:cNvPr>
          <p:cNvSpPr/>
          <p:nvPr/>
        </p:nvSpPr>
        <p:spPr>
          <a:xfrm>
            <a:off x="10903200" y="11907677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Ν</a:t>
            </a:r>
            <a:r>
              <a:rPr lang="en-US" sz="30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3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B557F4C-DF8D-E7B6-1B23-FD9F27A874EE}"/>
              </a:ext>
            </a:extLst>
          </p:cNvPr>
          <p:cNvCxnSpPr>
            <a:cxnSpLocks/>
          </p:cNvCxnSpPr>
          <p:nvPr/>
        </p:nvCxnSpPr>
        <p:spPr>
          <a:xfrm flipV="1">
            <a:off x="5736931" y="13774242"/>
            <a:ext cx="2889357" cy="5364"/>
          </a:xfrm>
          <a:prstGeom prst="straightConnector1">
            <a:avLst/>
          </a:prstGeom>
          <a:ln w="156972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1FD1304-876F-B3C9-6018-7095DD81361F}"/>
              </a:ext>
            </a:extLst>
          </p:cNvPr>
          <p:cNvCxnSpPr>
            <a:stCxn id="19" idx="0"/>
            <a:endCxn id="20" idx="2"/>
          </p:cNvCxnSpPr>
          <p:nvPr/>
        </p:nvCxnSpPr>
        <p:spPr>
          <a:xfrm flipV="1">
            <a:off x="9535987" y="11723605"/>
            <a:ext cx="0" cy="1224075"/>
          </a:xfrm>
          <a:prstGeom prst="straightConnector1">
            <a:avLst/>
          </a:prstGeom>
          <a:ln w="73787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425028A5-5D47-38EA-FA3A-71DC0F4C5F46}"/>
              </a:ext>
            </a:extLst>
          </p:cNvPr>
          <p:cNvSpPr/>
          <p:nvPr/>
        </p:nvSpPr>
        <p:spPr>
          <a:xfrm>
            <a:off x="2591230" y="8273076"/>
            <a:ext cx="2600500" cy="100584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36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3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species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E0BB266-9F53-7E9F-58C0-51474BF20FD4}"/>
              </a:ext>
            </a:extLst>
          </p:cNvPr>
          <p:cNvSpPr/>
          <p:nvPr/>
        </p:nvSpPr>
        <p:spPr>
          <a:xfrm>
            <a:off x="8626288" y="12947680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30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3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C5FBFD3-FB38-11E4-DFC1-C14EA3C3A139}"/>
              </a:ext>
            </a:extLst>
          </p:cNvPr>
          <p:cNvSpPr/>
          <p:nvPr/>
        </p:nvSpPr>
        <p:spPr>
          <a:xfrm>
            <a:off x="8626288" y="10846382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30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mass</a:t>
            </a:r>
            <a:endParaRPr lang="en-US" sz="3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9298447-A238-967D-E041-656CDD21F723}"/>
              </a:ext>
            </a:extLst>
          </p:cNvPr>
          <p:cNvSpPr/>
          <p:nvPr/>
        </p:nvSpPr>
        <p:spPr>
          <a:xfrm>
            <a:off x="6317773" y="11857168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χ</a:t>
            </a:r>
            <a:endParaRPr lang="en-US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CF3F501-536C-7E06-E4CD-2498D391A435}"/>
              </a:ext>
            </a:extLst>
          </p:cNvPr>
          <p:cNvSpPr txBox="1"/>
          <p:nvPr/>
        </p:nvSpPr>
        <p:spPr>
          <a:xfrm>
            <a:off x="6679855" y="8483608"/>
            <a:ext cx="6287106" cy="584775"/>
          </a:xfrm>
          <a:prstGeom prst="rect">
            <a:avLst/>
          </a:prstGeom>
          <a:solidFill>
            <a:schemeClr val="bg1"/>
          </a:solidFill>
          <a:ln w="571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Fisher’s </a:t>
            </a:r>
            <a:r>
              <a:rPr lang="en-US" sz="3200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=10.421, </a:t>
            </a:r>
            <a:r>
              <a:rPr lang="en-US" sz="3200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=0.237, df=8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7397922-F6F3-DCA7-4C12-ACDE18707517}"/>
              </a:ext>
            </a:extLst>
          </p:cNvPr>
          <p:cNvSpPr txBox="1"/>
          <p:nvPr/>
        </p:nvSpPr>
        <p:spPr>
          <a:xfrm>
            <a:off x="1172250" y="7907257"/>
            <a:ext cx="9380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FFB527E-10E9-20CB-E214-34895B51824C}"/>
              </a:ext>
            </a:extLst>
          </p:cNvPr>
          <p:cNvCxnSpPr>
            <a:cxnSpLocks/>
          </p:cNvCxnSpPr>
          <p:nvPr/>
        </p:nvCxnSpPr>
        <p:spPr>
          <a:xfrm>
            <a:off x="21400075" y="16363439"/>
            <a:ext cx="0" cy="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887A1061-8B48-9E8B-B56B-04579D4F2F9E}"/>
              </a:ext>
            </a:extLst>
          </p:cNvPr>
          <p:cNvSpPr/>
          <p:nvPr/>
        </p:nvSpPr>
        <p:spPr>
          <a:xfrm>
            <a:off x="14478611" y="8771407"/>
            <a:ext cx="10943454" cy="6638544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C539E49-299C-EDD9-FFF5-0CE410BA4F22}"/>
              </a:ext>
            </a:extLst>
          </p:cNvPr>
          <p:cNvSpPr/>
          <p:nvPr/>
        </p:nvSpPr>
        <p:spPr>
          <a:xfrm>
            <a:off x="14771747" y="8235334"/>
            <a:ext cx="2600500" cy="100584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36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3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species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481A40C-BE52-A4AE-8852-D231D2477F55}"/>
              </a:ext>
            </a:extLst>
          </p:cNvPr>
          <p:cNvSpPr txBox="1"/>
          <p:nvPr/>
        </p:nvSpPr>
        <p:spPr>
          <a:xfrm>
            <a:off x="18906083" y="8483608"/>
            <a:ext cx="6287106" cy="584775"/>
          </a:xfrm>
          <a:prstGeom prst="rect">
            <a:avLst/>
          </a:prstGeom>
          <a:solidFill>
            <a:schemeClr val="bg1"/>
          </a:solidFill>
          <a:ln w="571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Fisher’s </a:t>
            </a:r>
            <a:r>
              <a:rPr lang="en-US" sz="3200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=12.134, </a:t>
            </a:r>
            <a:r>
              <a:rPr lang="en-US" sz="3200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=0.145, df=8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B7284D2-AF01-B815-9392-500D9AED9FCF}"/>
              </a:ext>
            </a:extLst>
          </p:cNvPr>
          <p:cNvSpPr txBox="1"/>
          <p:nvPr/>
        </p:nvSpPr>
        <p:spPr>
          <a:xfrm>
            <a:off x="13437963" y="7907256"/>
            <a:ext cx="9028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5DA61BA-B8D6-B83F-E595-355FAA718E02}"/>
              </a:ext>
            </a:extLst>
          </p:cNvPr>
          <p:cNvGrpSpPr/>
          <p:nvPr/>
        </p:nvGrpSpPr>
        <p:grpSpPr>
          <a:xfrm>
            <a:off x="10294068" y="16287174"/>
            <a:ext cx="7365553" cy="1333409"/>
            <a:chOff x="10559644" y="16560396"/>
            <a:chExt cx="7365553" cy="1333409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6FE3C83-BEE4-BF5B-84F5-1C42EFF6A76B}"/>
                </a:ext>
              </a:extLst>
            </p:cNvPr>
            <p:cNvSpPr txBox="1"/>
            <p:nvPr/>
          </p:nvSpPr>
          <p:spPr>
            <a:xfrm>
              <a:off x="17090476" y="16745139"/>
              <a:ext cx="718466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Arial" panose="020B0604020202020204" pitchFamily="34" charset="0"/>
                  <a:cs typeface="Arial" panose="020B0604020202020204" pitchFamily="34" charset="0"/>
                </a:rPr>
                <a:t>NS</a:t>
              </a: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A088566D-660A-14D0-A18C-39DCE2C88612}"/>
                </a:ext>
              </a:extLst>
            </p:cNvPr>
            <p:cNvGrpSpPr/>
            <p:nvPr/>
          </p:nvGrpSpPr>
          <p:grpSpPr>
            <a:xfrm>
              <a:off x="10559644" y="16560396"/>
              <a:ext cx="7208824" cy="1333409"/>
              <a:chOff x="9836749" y="13266385"/>
              <a:chExt cx="7208824" cy="1333409"/>
            </a:xfrm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DCC8EDF9-7DAB-665A-97DA-4B7FDADCF5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510490" y="13425953"/>
                <a:ext cx="951115" cy="0"/>
              </a:xfrm>
              <a:prstGeom prst="line">
                <a:avLst/>
              </a:prstGeom>
              <a:ln w="952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8AAF3963-B0FB-F079-68CD-1B51F59940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77418" y="13446974"/>
                <a:ext cx="951115" cy="0"/>
              </a:xfrm>
              <a:prstGeom prst="line">
                <a:avLst/>
              </a:prstGeom>
              <a:ln w="476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EBAF6C3E-DB2C-7684-1962-506A8E1D57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349853" y="13429128"/>
                <a:ext cx="951115" cy="0"/>
              </a:xfrm>
              <a:prstGeom prst="line">
                <a:avLst/>
              </a:prstGeom>
              <a:ln w="952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0026B61A-B896-246F-D09D-013E68CF09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97410" y="13451128"/>
                <a:ext cx="951115" cy="0"/>
              </a:xfrm>
              <a:prstGeom prst="line">
                <a:avLst/>
              </a:prstGeom>
              <a:ln w="4762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121F5E6-036B-6D47-4464-2B3C9399869A}"/>
                  </a:ext>
                </a:extLst>
              </p:cNvPr>
              <p:cNvSpPr txBox="1"/>
              <p:nvPr/>
            </p:nvSpPr>
            <p:spPr>
              <a:xfrm>
                <a:off x="12510871" y="13433721"/>
                <a:ext cx="84670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-0.9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3D5B473-FA5C-57E8-CC38-06E07D202979}"/>
                  </a:ext>
                </a:extLst>
              </p:cNvPr>
              <p:cNvSpPr txBox="1"/>
              <p:nvPr/>
            </p:nvSpPr>
            <p:spPr>
              <a:xfrm>
                <a:off x="13501953" y="13440763"/>
                <a:ext cx="71846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0.9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43329FA-8EF9-FDC1-F6AC-A8ED7B1B57B0}"/>
                  </a:ext>
                </a:extLst>
              </p:cNvPr>
              <p:cNvSpPr txBox="1"/>
              <p:nvPr/>
            </p:nvSpPr>
            <p:spPr>
              <a:xfrm>
                <a:off x="11560010" y="13440763"/>
                <a:ext cx="84670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-0.6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95C747C-6078-1381-CEFD-9E1FD3A048C1}"/>
                  </a:ext>
                </a:extLst>
              </p:cNvPr>
              <p:cNvSpPr txBox="1"/>
              <p:nvPr/>
            </p:nvSpPr>
            <p:spPr>
              <a:xfrm>
                <a:off x="14475866" y="13444216"/>
                <a:ext cx="71846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0.6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C6F0EA8-D7B9-04FB-F35C-209CB6990795}"/>
                  </a:ext>
                </a:extLst>
              </p:cNvPr>
              <p:cNvSpPr txBox="1"/>
              <p:nvPr/>
            </p:nvSpPr>
            <p:spPr>
              <a:xfrm>
                <a:off x="15416682" y="13426392"/>
                <a:ext cx="71846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0.3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B960810-E8A2-CB5B-FE6A-A1A9847D95A3}"/>
                  </a:ext>
                </a:extLst>
              </p:cNvPr>
              <p:cNvSpPr txBox="1"/>
              <p:nvPr/>
            </p:nvSpPr>
            <p:spPr>
              <a:xfrm>
                <a:off x="10624830" y="13445817"/>
                <a:ext cx="84670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-0.3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5900026-07E8-2739-79E0-91136D0CD139}"/>
                  </a:ext>
                </a:extLst>
              </p:cNvPr>
              <p:cNvSpPr txBox="1"/>
              <p:nvPr/>
            </p:nvSpPr>
            <p:spPr>
              <a:xfrm>
                <a:off x="11639882" y="14045796"/>
                <a:ext cx="469551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Standardized Coefficient</a:t>
                </a:r>
              </a:p>
            </p:txBody>
          </p: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42659D85-7675-4905-CF13-D9D92E03EC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453667" y="13380736"/>
                <a:ext cx="951115" cy="0"/>
              </a:xfrm>
              <a:prstGeom prst="line">
                <a:avLst/>
              </a:prstGeom>
              <a:ln w="1905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9B6FFE6D-B0C7-2962-F622-4F3F27C627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401607" y="13379744"/>
                <a:ext cx="951115" cy="0"/>
              </a:xfrm>
              <a:prstGeom prst="line">
                <a:avLst/>
              </a:prstGeom>
              <a:ln w="19050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5342B7FD-4CB9-41D9-1BE3-B3BFD87621C7}"/>
                  </a:ext>
                </a:extLst>
              </p:cNvPr>
              <p:cNvSpPr/>
              <p:nvPr/>
            </p:nvSpPr>
            <p:spPr>
              <a:xfrm>
                <a:off x="10539776" y="13475193"/>
                <a:ext cx="5751830" cy="5685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8543C38C-CCA0-A892-475C-A3528AD97439}"/>
                  </a:ext>
                </a:extLst>
              </p:cNvPr>
              <p:cNvSpPr/>
              <p:nvPr/>
            </p:nvSpPr>
            <p:spPr>
              <a:xfrm>
                <a:off x="9836749" y="13470593"/>
                <a:ext cx="7010400" cy="4571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9BCE8591-88AA-3448-C48E-B2381897088C}"/>
                  </a:ext>
                </a:extLst>
              </p:cNvPr>
              <p:cNvSpPr/>
              <p:nvPr/>
            </p:nvSpPr>
            <p:spPr>
              <a:xfrm>
                <a:off x="10035173" y="13266385"/>
                <a:ext cx="7010400" cy="4571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E3ED699-E48C-6834-26F9-19B2B4C9B10A}"/>
                </a:ext>
              </a:extLst>
            </p:cNvPr>
            <p:cNvCxnSpPr>
              <a:cxnSpLocks/>
            </p:cNvCxnSpPr>
            <p:nvPr/>
          </p:nvCxnSpPr>
          <p:spPr>
            <a:xfrm>
              <a:off x="16974221" y="16750749"/>
              <a:ext cx="950976" cy="0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5A284551-87C0-33FA-3B1B-FDD8F1E2CF93}"/>
              </a:ext>
            </a:extLst>
          </p:cNvPr>
          <p:cNvCxnSpPr>
            <a:cxnSpLocks/>
          </p:cNvCxnSpPr>
          <p:nvPr/>
        </p:nvCxnSpPr>
        <p:spPr>
          <a:xfrm>
            <a:off x="17852656" y="11048508"/>
            <a:ext cx="2965974" cy="0"/>
          </a:xfrm>
          <a:prstGeom prst="straightConnector1">
            <a:avLst/>
          </a:prstGeom>
          <a:ln w="6350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978892DD-5446-647B-68AE-415FE7B352B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9786715" y="10807338"/>
            <a:ext cx="606296" cy="1504990"/>
          </a:xfrm>
          <a:prstGeom prst="bentConnector2">
            <a:avLst/>
          </a:prstGeom>
          <a:ln w="49784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BE279018-0037-2643-00D4-FC0F7F32553C}"/>
              </a:ext>
            </a:extLst>
          </p:cNvPr>
          <p:cNvCxnSpPr>
            <a:cxnSpLocks/>
            <a:endCxn id="57" idx="2"/>
          </p:cNvCxnSpPr>
          <p:nvPr/>
        </p:nvCxnSpPr>
        <p:spPr>
          <a:xfrm flipV="1">
            <a:off x="22635875" y="12798699"/>
            <a:ext cx="1393095" cy="861243"/>
          </a:xfrm>
          <a:prstGeom prst="bentConnector2">
            <a:avLst/>
          </a:prstGeom>
          <a:ln w="225806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3594FD86-021A-9A11-149D-1F4F394CDCDE}"/>
              </a:ext>
            </a:extLst>
          </p:cNvPr>
          <p:cNvSpPr/>
          <p:nvPr/>
        </p:nvSpPr>
        <p:spPr>
          <a:xfrm>
            <a:off x="23119271" y="11921476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Ν</a:t>
            </a:r>
            <a:r>
              <a:rPr lang="en-US" sz="30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3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76A53E8-3B7A-36A7-F8C7-6B7399B3417F}"/>
              </a:ext>
            </a:extLst>
          </p:cNvPr>
          <p:cNvCxnSpPr>
            <a:cxnSpLocks/>
          </p:cNvCxnSpPr>
          <p:nvPr/>
        </p:nvCxnSpPr>
        <p:spPr>
          <a:xfrm flipV="1">
            <a:off x="17932906" y="13673741"/>
            <a:ext cx="2889357" cy="5364"/>
          </a:xfrm>
          <a:prstGeom prst="straightConnector1">
            <a:avLst/>
          </a:prstGeom>
          <a:ln w="169164">
            <a:solidFill>
              <a:srgbClr val="C00000"/>
            </a:solidFill>
            <a:prstDash val="solid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9999BEC-B7C6-0CBD-D65A-12B12D8F24C7}"/>
              </a:ext>
            </a:extLst>
          </p:cNvPr>
          <p:cNvCxnSpPr>
            <a:stCxn id="60" idx="0"/>
            <a:endCxn id="61" idx="2"/>
          </p:cNvCxnSpPr>
          <p:nvPr/>
        </p:nvCxnSpPr>
        <p:spPr>
          <a:xfrm flipV="1">
            <a:off x="21752058" y="11737404"/>
            <a:ext cx="0" cy="1224075"/>
          </a:xfrm>
          <a:prstGeom prst="straightConnector1">
            <a:avLst/>
          </a:prstGeom>
          <a:ln w="74549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4C7B6975-FA76-769C-A23A-61B2EC799062}"/>
              </a:ext>
            </a:extLst>
          </p:cNvPr>
          <p:cNvSpPr/>
          <p:nvPr/>
        </p:nvSpPr>
        <p:spPr>
          <a:xfrm>
            <a:off x="20842359" y="12961479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30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3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E9631A4-9C03-F182-9AF6-3998B88C5C61}"/>
              </a:ext>
            </a:extLst>
          </p:cNvPr>
          <p:cNvSpPr/>
          <p:nvPr/>
        </p:nvSpPr>
        <p:spPr>
          <a:xfrm>
            <a:off x="18568778" y="11877579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χ</a:t>
            </a:r>
            <a:endParaRPr lang="en-US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D86B86FB-04F9-3B4E-3CF0-98F0A1D3D15E}"/>
              </a:ext>
            </a:extLst>
          </p:cNvPr>
          <p:cNvCxnSpPr>
            <a:cxnSpLocks/>
            <a:stCxn id="65" idx="3"/>
            <a:endCxn id="62" idx="1"/>
          </p:cNvCxnSpPr>
          <p:nvPr/>
        </p:nvCxnSpPr>
        <p:spPr>
          <a:xfrm>
            <a:off x="17849785" y="12313071"/>
            <a:ext cx="718993" cy="3120"/>
          </a:xfrm>
          <a:prstGeom prst="straightConnector1">
            <a:avLst/>
          </a:prstGeom>
          <a:ln w="109728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Elbow Connector 67">
            <a:extLst>
              <a:ext uri="{FF2B5EF4-FFF2-40B4-BE49-F238E27FC236}">
                <a16:creationId xmlns:a16="http://schemas.microsoft.com/office/drawing/2014/main" id="{EA2CDBEE-4242-7C22-E030-0B043DD203E1}"/>
              </a:ext>
            </a:extLst>
          </p:cNvPr>
          <p:cNvCxnSpPr>
            <a:cxnSpLocks/>
          </p:cNvCxnSpPr>
          <p:nvPr/>
        </p:nvCxnSpPr>
        <p:spPr>
          <a:xfrm rot="16200000" flipH="1">
            <a:off x="19776218" y="12341811"/>
            <a:ext cx="634555" cy="1504991"/>
          </a:xfrm>
          <a:prstGeom prst="bentConnector2">
            <a:avLst/>
          </a:prstGeom>
          <a:ln w="6350">
            <a:solidFill>
              <a:schemeClr val="tx1"/>
            </a:solidFill>
            <a:prstDash val="lg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>
            <a:extLst>
              <a:ext uri="{FF2B5EF4-FFF2-40B4-BE49-F238E27FC236}">
                <a16:creationId xmlns:a16="http://schemas.microsoft.com/office/drawing/2014/main" id="{42A7FC64-B509-C527-C2CB-97C76569B819}"/>
              </a:ext>
            </a:extLst>
          </p:cNvPr>
          <p:cNvCxnSpPr>
            <a:cxnSpLocks/>
            <a:endCxn id="57" idx="0"/>
          </p:cNvCxnSpPr>
          <p:nvPr/>
        </p:nvCxnSpPr>
        <p:spPr>
          <a:xfrm>
            <a:off x="22670515" y="11048508"/>
            <a:ext cx="1358455" cy="872968"/>
          </a:xfrm>
          <a:prstGeom prst="bentConnector2">
            <a:avLst/>
          </a:prstGeom>
          <a:ln w="226186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Rectangle 108">
            <a:extLst>
              <a:ext uri="{FF2B5EF4-FFF2-40B4-BE49-F238E27FC236}">
                <a16:creationId xmlns:a16="http://schemas.microsoft.com/office/drawing/2014/main" id="{9F7BAC0F-5199-1E4F-04C1-E2CA0B566515}"/>
              </a:ext>
            </a:extLst>
          </p:cNvPr>
          <p:cNvSpPr/>
          <p:nvPr/>
        </p:nvSpPr>
        <p:spPr>
          <a:xfrm>
            <a:off x="8417642" y="905803"/>
            <a:ext cx="10943454" cy="6638544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75EBC457-8868-6742-1553-96B56EFC1CEE}"/>
              </a:ext>
            </a:extLst>
          </p:cNvPr>
          <p:cNvCxnSpPr>
            <a:cxnSpLocks/>
          </p:cNvCxnSpPr>
          <p:nvPr/>
        </p:nvCxnSpPr>
        <p:spPr>
          <a:xfrm>
            <a:off x="11815416" y="3115713"/>
            <a:ext cx="2989702" cy="0"/>
          </a:xfrm>
          <a:prstGeom prst="straightConnector1">
            <a:avLst/>
          </a:prstGeom>
          <a:ln w="8509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Elbow Connector 110">
            <a:extLst>
              <a:ext uri="{FF2B5EF4-FFF2-40B4-BE49-F238E27FC236}">
                <a16:creationId xmlns:a16="http://schemas.microsoft.com/office/drawing/2014/main" id="{4F36E438-63D5-FD9C-848D-660E12BB0E7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3749475" y="2922788"/>
            <a:ext cx="606296" cy="1504990"/>
          </a:xfrm>
          <a:prstGeom prst="bentConnector2">
            <a:avLst/>
          </a:prstGeom>
          <a:ln w="85090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Elbow Connector 111">
            <a:extLst>
              <a:ext uri="{FF2B5EF4-FFF2-40B4-BE49-F238E27FC236}">
                <a16:creationId xmlns:a16="http://schemas.microsoft.com/office/drawing/2014/main" id="{785F29C7-13C3-8684-0EBF-EEBC167C1381}"/>
              </a:ext>
            </a:extLst>
          </p:cNvPr>
          <p:cNvCxnSpPr>
            <a:cxnSpLocks/>
          </p:cNvCxnSpPr>
          <p:nvPr/>
        </p:nvCxnSpPr>
        <p:spPr>
          <a:xfrm rot="16200000" flipH="1">
            <a:off x="13735346" y="4466956"/>
            <a:ext cx="634555" cy="1504991"/>
          </a:xfrm>
          <a:prstGeom prst="bentConnector2">
            <a:avLst/>
          </a:prstGeom>
          <a:ln w="85090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Elbow Connector 112">
            <a:extLst>
              <a:ext uri="{FF2B5EF4-FFF2-40B4-BE49-F238E27FC236}">
                <a16:creationId xmlns:a16="http://schemas.microsoft.com/office/drawing/2014/main" id="{FD0FDF28-30DF-C911-3D15-83775D969834}"/>
              </a:ext>
            </a:extLst>
          </p:cNvPr>
          <p:cNvCxnSpPr>
            <a:cxnSpLocks/>
            <a:endCxn id="115" idx="0"/>
          </p:cNvCxnSpPr>
          <p:nvPr/>
        </p:nvCxnSpPr>
        <p:spPr>
          <a:xfrm>
            <a:off x="16622364" y="3115713"/>
            <a:ext cx="1369366" cy="926360"/>
          </a:xfrm>
          <a:prstGeom prst="bentConnector2">
            <a:avLst/>
          </a:prstGeom>
          <a:ln w="8509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Elbow Connector 113">
            <a:extLst>
              <a:ext uri="{FF2B5EF4-FFF2-40B4-BE49-F238E27FC236}">
                <a16:creationId xmlns:a16="http://schemas.microsoft.com/office/drawing/2014/main" id="{A33F9150-2CCA-CD2C-C455-04CE73A0DA54}"/>
              </a:ext>
            </a:extLst>
          </p:cNvPr>
          <p:cNvCxnSpPr>
            <a:cxnSpLocks/>
            <a:endCxn id="115" idx="2"/>
          </p:cNvCxnSpPr>
          <p:nvPr/>
        </p:nvCxnSpPr>
        <p:spPr>
          <a:xfrm flipV="1">
            <a:off x="16622364" y="4919296"/>
            <a:ext cx="1369366" cy="902820"/>
          </a:xfrm>
          <a:prstGeom prst="bentConnector2">
            <a:avLst/>
          </a:prstGeom>
          <a:ln w="8509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Rectangle 114">
            <a:extLst>
              <a:ext uri="{FF2B5EF4-FFF2-40B4-BE49-F238E27FC236}">
                <a16:creationId xmlns:a16="http://schemas.microsoft.com/office/drawing/2014/main" id="{8642ACC6-4527-18F7-2B63-9C34F1BC303A}"/>
              </a:ext>
            </a:extLst>
          </p:cNvPr>
          <p:cNvSpPr/>
          <p:nvPr/>
        </p:nvSpPr>
        <p:spPr>
          <a:xfrm>
            <a:off x="17082031" y="4042073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Ν</a:t>
            </a:r>
            <a:r>
              <a:rPr lang="en-US" sz="30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3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011C4FDF-001C-3544-9BEE-F9CC610C4DEC}"/>
              </a:ext>
            </a:extLst>
          </p:cNvPr>
          <p:cNvCxnSpPr>
            <a:cxnSpLocks/>
          </p:cNvCxnSpPr>
          <p:nvPr/>
        </p:nvCxnSpPr>
        <p:spPr>
          <a:xfrm flipV="1">
            <a:off x="11915762" y="5794338"/>
            <a:ext cx="2889357" cy="5364"/>
          </a:xfrm>
          <a:prstGeom prst="straightConnector1">
            <a:avLst/>
          </a:prstGeom>
          <a:ln w="85090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036A69EC-6143-24AA-07BF-6C1FF6F99DB9}"/>
              </a:ext>
            </a:extLst>
          </p:cNvPr>
          <p:cNvCxnSpPr>
            <a:stCxn id="119" idx="0"/>
            <a:endCxn id="120" idx="2"/>
          </p:cNvCxnSpPr>
          <p:nvPr/>
        </p:nvCxnSpPr>
        <p:spPr>
          <a:xfrm flipV="1">
            <a:off x="15714818" y="3858001"/>
            <a:ext cx="0" cy="1224075"/>
          </a:xfrm>
          <a:prstGeom prst="straightConnector1">
            <a:avLst/>
          </a:prstGeom>
          <a:ln w="85090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Rectangle 117">
            <a:extLst>
              <a:ext uri="{FF2B5EF4-FFF2-40B4-BE49-F238E27FC236}">
                <a16:creationId xmlns:a16="http://schemas.microsoft.com/office/drawing/2014/main" id="{3616C5C3-8C16-9DE1-3965-F5D496B2182A}"/>
              </a:ext>
            </a:extLst>
          </p:cNvPr>
          <p:cNvSpPr/>
          <p:nvPr/>
        </p:nvSpPr>
        <p:spPr>
          <a:xfrm>
            <a:off x="8770060" y="407472"/>
            <a:ext cx="3353739" cy="100584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Hypothesized paths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73D72A45-4004-A892-DDE9-DB81EDBE10E0}"/>
              </a:ext>
            </a:extLst>
          </p:cNvPr>
          <p:cNvSpPr/>
          <p:nvPr/>
        </p:nvSpPr>
        <p:spPr>
          <a:xfrm>
            <a:off x="14805119" y="5082076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30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3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5456A56C-D5E0-8C42-70B9-303B06F63318}"/>
              </a:ext>
            </a:extLst>
          </p:cNvPr>
          <p:cNvSpPr/>
          <p:nvPr/>
        </p:nvSpPr>
        <p:spPr>
          <a:xfrm>
            <a:off x="14805119" y="2980778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30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mass</a:t>
            </a:r>
            <a:endParaRPr lang="en-US" sz="3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9EC44C47-7B6C-05EF-15CC-85F70D1F8F30}"/>
              </a:ext>
            </a:extLst>
          </p:cNvPr>
          <p:cNvSpPr/>
          <p:nvPr/>
        </p:nvSpPr>
        <p:spPr>
          <a:xfrm>
            <a:off x="12496604" y="3991564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χ</a:t>
            </a:r>
            <a:endParaRPr lang="en-US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4162995A-EC90-4AC5-A57E-DF116A3D9CCD}"/>
              </a:ext>
            </a:extLst>
          </p:cNvPr>
          <p:cNvSpPr txBox="1"/>
          <p:nvPr/>
        </p:nvSpPr>
        <p:spPr>
          <a:xfrm>
            <a:off x="7404753" y="0"/>
            <a:ext cx="9380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7ADE0452-DB7C-73CE-85E8-F1B937BE2E26}"/>
              </a:ext>
            </a:extLst>
          </p:cNvPr>
          <p:cNvCxnSpPr>
            <a:cxnSpLocks/>
            <a:stCxn id="126" idx="3"/>
            <a:endCxn id="121" idx="1"/>
          </p:cNvCxnSpPr>
          <p:nvPr/>
        </p:nvCxnSpPr>
        <p:spPr>
          <a:xfrm flipV="1">
            <a:off x="11812545" y="4430176"/>
            <a:ext cx="684059" cy="3492"/>
          </a:xfrm>
          <a:prstGeom prst="straightConnector1">
            <a:avLst/>
          </a:prstGeom>
          <a:ln w="85090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ectangle 125">
            <a:extLst>
              <a:ext uri="{FF2B5EF4-FFF2-40B4-BE49-F238E27FC236}">
                <a16:creationId xmlns:a16="http://schemas.microsoft.com/office/drawing/2014/main" id="{B769C163-31BC-0442-E266-3E59B17F7A19}"/>
              </a:ext>
            </a:extLst>
          </p:cNvPr>
          <p:cNvSpPr/>
          <p:nvPr/>
        </p:nvSpPr>
        <p:spPr>
          <a:xfrm>
            <a:off x="9993147" y="3995056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VPD</a:t>
            </a:r>
            <a:endParaRPr lang="en-US" sz="3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7" name="Elbow Connector 126">
            <a:extLst>
              <a:ext uri="{FF2B5EF4-FFF2-40B4-BE49-F238E27FC236}">
                <a16:creationId xmlns:a16="http://schemas.microsoft.com/office/drawing/2014/main" id="{700EF378-9205-4F81-2193-8D17BBB2ADCD}"/>
              </a:ext>
            </a:extLst>
          </p:cNvPr>
          <p:cNvCxnSpPr>
            <a:cxnSpLocks/>
            <a:stCxn id="128" idx="1"/>
            <a:endCxn id="120" idx="0"/>
          </p:cNvCxnSpPr>
          <p:nvPr/>
        </p:nvCxnSpPr>
        <p:spPr>
          <a:xfrm rot="10800000" flipH="1">
            <a:off x="9869706" y="2980779"/>
            <a:ext cx="5845112" cy="2747461"/>
          </a:xfrm>
          <a:prstGeom prst="bentConnector4">
            <a:avLst>
              <a:gd name="adj1" fmla="val -3911"/>
              <a:gd name="adj2" fmla="val 122252"/>
            </a:avLst>
          </a:prstGeom>
          <a:ln w="8509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907826BA-D0F9-8B99-6764-4CF9B5E7831E}"/>
              </a:ext>
            </a:extLst>
          </p:cNvPr>
          <p:cNvSpPr/>
          <p:nvPr/>
        </p:nvSpPr>
        <p:spPr>
          <a:xfrm>
            <a:off x="20842359" y="10860181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30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mass</a:t>
            </a:r>
            <a:endParaRPr lang="en-US" sz="3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40A851F-1B34-5C00-477A-4406C4679903}"/>
              </a:ext>
            </a:extLst>
          </p:cNvPr>
          <p:cNvSpPr/>
          <p:nvPr/>
        </p:nvSpPr>
        <p:spPr>
          <a:xfrm>
            <a:off x="15906946" y="13169030"/>
            <a:ext cx="2011416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Soil N</a:t>
            </a:r>
            <a:endParaRPr lang="en-US" sz="3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CBD55687-A3A0-11E3-96C1-6C3CBA5E63D6}"/>
              </a:ext>
            </a:extLst>
          </p:cNvPr>
          <p:cNvSpPr>
            <a:spLocks noChangeAspect="1"/>
          </p:cNvSpPr>
          <p:nvPr/>
        </p:nvSpPr>
        <p:spPr>
          <a:xfrm>
            <a:off x="13716000" y="3189054"/>
            <a:ext cx="486059" cy="486059"/>
          </a:xfrm>
          <a:prstGeom prst="ellipse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9838AFEB-5C9C-EEE8-820F-9A3D02AE7176}"/>
              </a:ext>
            </a:extLst>
          </p:cNvPr>
          <p:cNvSpPr txBox="1"/>
          <p:nvPr/>
        </p:nvSpPr>
        <p:spPr>
          <a:xfrm>
            <a:off x="13744234" y="3231166"/>
            <a:ext cx="479618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H1</a:t>
            </a:r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2C306654-FD41-2717-7CA0-AE45621C1984}"/>
              </a:ext>
            </a:extLst>
          </p:cNvPr>
          <p:cNvSpPr>
            <a:spLocks noChangeAspect="1"/>
          </p:cNvSpPr>
          <p:nvPr/>
        </p:nvSpPr>
        <p:spPr>
          <a:xfrm>
            <a:off x="13716000" y="5167964"/>
            <a:ext cx="486059" cy="486059"/>
          </a:xfrm>
          <a:prstGeom prst="ellipse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193604C8-768E-CD8E-DB3C-E0298A579E93}"/>
              </a:ext>
            </a:extLst>
          </p:cNvPr>
          <p:cNvSpPr txBox="1"/>
          <p:nvPr/>
        </p:nvSpPr>
        <p:spPr>
          <a:xfrm>
            <a:off x="13744234" y="5210076"/>
            <a:ext cx="479618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H1</a:t>
            </a:r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0E7137D4-4455-E645-EA40-06B69F8695E3}"/>
              </a:ext>
            </a:extLst>
          </p:cNvPr>
          <p:cNvSpPr>
            <a:spLocks noChangeAspect="1"/>
          </p:cNvSpPr>
          <p:nvPr/>
        </p:nvSpPr>
        <p:spPr>
          <a:xfrm>
            <a:off x="11862524" y="4183562"/>
            <a:ext cx="486059" cy="486059"/>
          </a:xfrm>
          <a:prstGeom prst="ellipse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80C2A737-0C37-7A12-4C7B-817E1D33A8C3}"/>
              </a:ext>
            </a:extLst>
          </p:cNvPr>
          <p:cNvSpPr txBox="1"/>
          <p:nvPr/>
        </p:nvSpPr>
        <p:spPr>
          <a:xfrm>
            <a:off x="11881122" y="4254638"/>
            <a:ext cx="479618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H2</a:t>
            </a:r>
          </a:p>
        </p:txBody>
      </p:sp>
      <p:cxnSp>
        <p:nvCxnSpPr>
          <p:cNvPr id="161" name="Elbow Connector 160">
            <a:extLst>
              <a:ext uri="{FF2B5EF4-FFF2-40B4-BE49-F238E27FC236}">
                <a16:creationId xmlns:a16="http://schemas.microsoft.com/office/drawing/2014/main" id="{07BE0961-0571-F9F1-4611-910B9371C1FA}"/>
              </a:ext>
            </a:extLst>
          </p:cNvPr>
          <p:cNvCxnSpPr>
            <a:cxnSpLocks/>
          </p:cNvCxnSpPr>
          <p:nvPr/>
        </p:nvCxnSpPr>
        <p:spPr>
          <a:xfrm flipV="1">
            <a:off x="11862524" y="4888678"/>
            <a:ext cx="939076" cy="655650"/>
          </a:xfrm>
          <a:prstGeom prst="bentConnector3">
            <a:avLst>
              <a:gd name="adj1" fmla="val 100377"/>
            </a:avLst>
          </a:prstGeom>
          <a:ln w="8509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lbow Connector 162">
            <a:extLst>
              <a:ext uri="{FF2B5EF4-FFF2-40B4-BE49-F238E27FC236}">
                <a16:creationId xmlns:a16="http://schemas.microsoft.com/office/drawing/2014/main" id="{6631BCFD-096A-3B4B-F870-8068F1E50777}"/>
              </a:ext>
            </a:extLst>
          </p:cNvPr>
          <p:cNvCxnSpPr>
            <a:cxnSpLocks/>
          </p:cNvCxnSpPr>
          <p:nvPr/>
        </p:nvCxnSpPr>
        <p:spPr>
          <a:xfrm>
            <a:off x="11800019" y="3368523"/>
            <a:ext cx="1001581" cy="603150"/>
          </a:xfrm>
          <a:prstGeom prst="bentConnector3">
            <a:avLst>
              <a:gd name="adj1" fmla="val 99769"/>
            </a:avLst>
          </a:prstGeom>
          <a:ln w="8509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Rectangle 123">
            <a:extLst>
              <a:ext uri="{FF2B5EF4-FFF2-40B4-BE49-F238E27FC236}">
                <a16:creationId xmlns:a16="http://schemas.microsoft.com/office/drawing/2014/main" id="{C4527E9B-9965-3B92-31E9-0BC730612B63}"/>
              </a:ext>
            </a:extLst>
          </p:cNvPr>
          <p:cNvSpPr/>
          <p:nvPr/>
        </p:nvSpPr>
        <p:spPr>
          <a:xfrm>
            <a:off x="10002555" y="2790808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Soil moisture</a:t>
            </a:r>
            <a:endParaRPr lang="en-US" sz="3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97ED2574-22F3-85C8-7533-571A50908017}"/>
              </a:ext>
            </a:extLst>
          </p:cNvPr>
          <p:cNvSpPr/>
          <p:nvPr/>
        </p:nvSpPr>
        <p:spPr>
          <a:xfrm>
            <a:off x="9869706" y="5289627"/>
            <a:ext cx="2011416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Soil N</a:t>
            </a:r>
            <a:endParaRPr lang="en-US" sz="3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4E9D2593-B3E5-80EC-E77F-F4BCC360515F}"/>
              </a:ext>
            </a:extLst>
          </p:cNvPr>
          <p:cNvSpPr>
            <a:spLocks noChangeAspect="1"/>
          </p:cNvSpPr>
          <p:nvPr/>
        </p:nvSpPr>
        <p:spPr>
          <a:xfrm>
            <a:off x="12123800" y="5182187"/>
            <a:ext cx="486059" cy="486059"/>
          </a:xfrm>
          <a:prstGeom prst="ellipse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68A08236-5BCC-C974-1A06-52A99A97E3A3}"/>
              </a:ext>
            </a:extLst>
          </p:cNvPr>
          <p:cNvSpPr txBox="1"/>
          <p:nvPr/>
        </p:nvSpPr>
        <p:spPr>
          <a:xfrm>
            <a:off x="12142398" y="5253263"/>
            <a:ext cx="479618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H2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24F039F8-E346-51AD-368A-E888D4E79052}"/>
              </a:ext>
            </a:extLst>
          </p:cNvPr>
          <p:cNvSpPr txBox="1"/>
          <p:nvPr/>
        </p:nvSpPr>
        <p:spPr>
          <a:xfrm>
            <a:off x="12126231" y="3244298"/>
            <a:ext cx="479618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H2</a:t>
            </a:r>
          </a:p>
        </p:txBody>
      </p: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8E13B07A-89E1-0B3D-9D9F-3F641947E99E}"/>
              </a:ext>
            </a:extLst>
          </p:cNvPr>
          <p:cNvGrpSpPr/>
          <p:nvPr/>
        </p:nvGrpSpPr>
        <p:grpSpPr>
          <a:xfrm>
            <a:off x="16578427" y="1121035"/>
            <a:ext cx="2561532" cy="853440"/>
            <a:chOff x="14336889" y="10167639"/>
            <a:chExt cx="2561532" cy="853440"/>
          </a:xfrm>
          <a:solidFill>
            <a:schemeClr val="bg1"/>
          </a:solidFill>
        </p:grpSpPr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EFFD152E-496A-9E8C-BAA1-DB896F19A713}"/>
                </a:ext>
              </a:extLst>
            </p:cNvPr>
            <p:cNvSpPr/>
            <p:nvPr/>
          </p:nvSpPr>
          <p:spPr>
            <a:xfrm>
              <a:off x="14336889" y="10167639"/>
              <a:ext cx="2561532" cy="853440"/>
            </a:xfrm>
            <a:prstGeom prst="rect">
              <a:avLst/>
            </a:prstGeom>
            <a:grpFill/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3" name="Straight Arrow Connector 182">
              <a:extLst>
                <a:ext uri="{FF2B5EF4-FFF2-40B4-BE49-F238E27FC236}">
                  <a16:creationId xmlns:a16="http://schemas.microsoft.com/office/drawing/2014/main" id="{385B0921-86DB-3644-C969-D808F7118955}"/>
                </a:ext>
              </a:extLst>
            </p:cNvPr>
            <p:cNvCxnSpPr/>
            <p:nvPr/>
          </p:nvCxnSpPr>
          <p:spPr>
            <a:xfrm>
              <a:off x="14498320" y="10441446"/>
              <a:ext cx="680720" cy="0"/>
            </a:xfrm>
            <a:prstGeom prst="straightConnector1">
              <a:avLst/>
            </a:prstGeom>
            <a:grpFill/>
            <a:ln w="76200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E55EC16E-F547-8320-D290-CA79D4216CEA}"/>
                </a:ext>
              </a:extLst>
            </p:cNvPr>
            <p:cNvSpPr txBox="1"/>
            <p:nvPr/>
          </p:nvSpPr>
          <p:spPr>
            <a:xfrm>
              <a:off x="15179040" y="10256780"/>
              <a:ext cx="16167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Positive effect</a:t>
              </a:r>
            </a:p>
          </p:txBody>
        </p:sp>
        <p:cxnSp>
          <p:nvCxnSpPr>
            <p:cNvPr id="185" name="Straight Arrow Connector 184">
              <a:extLst>
                <a:ext uri="{FF2B5EF4-FFF2-40B4-BE49-F238E27FC236}">
                  <a16:creationId xmlns:a16="http://schemas.microsoft.com/office/drawing/2014/main" id="{F6CBD3B0-9446-20CB-5E3E-E866EFD15084}"/>
                </a:ext>
              </a:extLst>
            </p:cNvPr>
            <p:cNvCxnSpPr/>
            <p:nvPr/>
          </p:nvCxnSpPr>
          <p:spPr>
            <a:xfrm>
              <a:off x="14498320" y="10729878"/>
              <a:ext cx="680720" cy="0"/>
            </a:xfrm>
            <a:prstGeom prst="straightConnector1">
              <a:avLst/>
            </a:prstGeom>
            <a:grpFill/>
            <a:ln w="76200">
              <a:solidFill>
                <a:srgbClr val="C00000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6ED19FAE-D776-5737-F984-C8D7B8CE416B}"/>
                </a:ext>
              </a:extLst>
            </p:cNvPr>
            <p:cNvSpPr txBox="1"/>
            <p:nvPr/>
          </p:nvSpPr>
          <p:spPr>
            <a:xfrm>
              <a:off x="15179040" y="10545212"/>
              <a:ext cx="17193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Negative effect</a:t>
              </a:r>
            </a:p>
          </p:txBody>
        </p:sp>
      </p:grpSp>
      <p:cxnSp>
        <p:nvCxnSpPr>
          <p:cNvPr id="188" name="Elbow Connector 187">
            <a:extLst>
              <a:ext uri="{FF2B5EF4-FFF2-40B4-BE49-F238E27FC236}">
                <a16:creationId xmlns:a16="http://schemas.microsoft.com/office/drawing/2014/main" id="{CDC9D67C-9FCF-5169-2EA0-D8453EEAA0B7}"/>
              </a:ext>
            </a:extLst>
          </p:cNvPr>
          <p:cNvCxnSpPr>
            <a:cxnSpLocks/>
          </p:cNvCxnSpPr>
          <p:nvPr/>
        </p:nvCxnSpPr>
        <p:spPr>
          <a:xfrm flipV="1">
            <a:off x="5712217" y="12746684"/>
            <a:ext cx="939076" cy="655650"/>
          </a:xfrm>
          <a:prstGeom prst="bentConnector3">
            <a:avLst>
              <a:gd name="adj1" fmla="val 100377"/>
            </a:avLst>
          </a:prstGeom>
          <a:ln w="82804">
            <a:solidFill>
              <a:srgbClr val="C00000"/>
            </a:solidFill>
            <a:prstDash val="solid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Elbow Connector 188">
            <a:extLst>
              <a:ext uri="{FF2B5EF4-FFF2-40B4-BE49-F238E27FC236}">
                <a16:creationId xmlns:a16="http://schemas.microsoft.com/office/drawing/2014/main" id="{858C4137-6083-474A-DCC6-47137BA78672}"/>
              </a:ext>
            </a:extLst>
          </p:cNvPr>
          <p:cNvCxnSpPr>
            <a:cxnSpLocks/>
          </p:cNvCxnSpPr>
          <p:nvPr/>
        </p:nvCxnSpPr>
        <p:spPr>
          <a:xfrm>
            <a:off x="5649712" y="11226529"/>
            <a:ext cx="1001581" cy="603150"/>
          </a:xfrm>
          <a:prstGeom prst="bentConnector3">
            <a:avLst>
              <a:gd name="adj1" fmla="val 99769"/>
            </a:avLst>
          </a:prstGeom>
          <a:ln w="51308">
            <a:solidFill>
              <a:srgbClr val="C00000"/>
            </a:solidFill>
            <a:prstDash val="solid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Elbow Connector 189">
            <a:extLst>
              <a:ext uri="{FF2B5EF4-FFF2-40B4-BE49-F238E27FC236}">
                <a16:creationId xmlns:a16="http://schemas.microsoft.com/office/drawing/2014/main" id="{AE0B5B0F-95EE-BEB7-858C-182EEA9AF574}"/>
              </a:ext>
            </a:extLst>
          </p:cNvPr>
          <p:cNvCxnSpPr>
            <a:cxnSpLocks/>
          </p:cNvCxnSpPr>
          <p:nvPr/>
        </p:nvCxnSpPr>
        <p:spPr>
          <a:xfrm flipV="1">
            <a:off x="17940390" y="12755934"/>
            <a:ext cx="939076" cy="655650"/>
          </a:xfrm>
          <a:prstGeom prst="bentConnector3">
            <a:avLst>
              <a:gd name="adj1" fmla="val 100377"/>
            </a:avLst>
          </a:prstGeom>
          <a:ln w="6350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Elbow Connector 190">
            <a:extLst>
              <a:ext uri="{FF2B5EF4-FFF2-40B4-BE49-F238E27FC236}">
                <a16:creationId xmlns:a16="http://schemas.microsoft.com/office/drawing/2014/main" id="{04F64216-F957-FE1C-B743-20CDFCFD26B8}"/>
              </a:ext>
            </a:extLst>
          </p:cNvPr>
          <p:cNvCxnSpPr>
            <a:cxnSpLocks/>
          </p:cNvCxnSpPr>
          <p:nvPr/>
        </p:nvCxnSpPr>
        <p:spPr>
          <a:xfrm>
            <a:off x="17876119" y="11252202"/>
            <a:ext cx="1001581" cy="603150"/>
          </a:xfrm>
          <a:prstGeom prst="bentConnector3">
            <a:avLst>
              <a:gd name="adj1" fmla="val 99769"/>
            </a:avLst>
          </a:prstGeom>
          <a:ln w="6350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EE97C61C-834D-4732-3638-5AB2B0688217}"/>
              </a:ext>
            </a:extLst>
          </p:cNvPr>
          <p:cNvSpPr>
            <a:spLocks noChangeAspect="1"/>
          </p:cNvSpPr>
          <p:nvPr/>
        </p:nvSpPr>
        <p:spPr>
          <a:xfrm>
            <a:off x="15478628" y="4287224"/>
            <a:ext cx="486059" cy="486059"/>
          </a:xfrm>
          <a:prstGeom prst="ellipse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443E4B-B608-96AE-47D6-3EAE30A7B29C}"/>
              </a:ext>
            </a:extLst>
          </p:cNvPr>
          <p:cNvSpPr txBox="1"/>
          <p:nvPr/>
        </p:nvSpPr>
        <p:spPr>
          <a:xfrm>
            <a:off x="15416662" y="4341508"/>
            <a:ext cx="633507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LES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113E294-0584-0367-B00E-91043BDA04AD}"/>
              </a:ext>
            </a:extLst>
          </p:cNvPr>
          <p:cNvSpPr txBox="1"/>
          <p:nvPr/>
        </p:nvSpPr>
        <p:spPr>
          <a:xfrm>
            <a:off x="8725589" y="6377826"/>
            <a:ext cx="10327557" cy="101566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In semi-arid systems, soil N effects may be stronger in wetter environments due to increased mass-flow potential, but this might be counterbalanced by increased photosynthetic demand in drier environments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6BC3C141-EAB7-7307-8C7C-A290593AC594}"/>
              </a:ext>
            </a:extLst>
          </p:cNvPr>
          <p:cNvCxnSpPr>
            <a:cxnSpLocks/>
          </p:cNvCxnSpPr>
          <p:nvPr/>
        </p:nvCxnSpPr>
        <p:spPr>
          <a:xfrm>
            <a:off x="5621741" y="12294219"/>
            <a:ext cx="718993" cy="3120"/>
          </a:xfrm>
          <a:prstGeom prst="straightConnector1">
            <a:avLst/>
          </a:prstGeom>
          <a:ln w="110363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26402102-6FB2-D4E4-5CA3-FD8F23DD6E72}"/>
              </a:ext>
            </a:extLst>
          </p:cNvPr>
          <p:cNvSpPr txBox="1"/>
          <p:nvPr/>
        </p:nvSpPr>
        <p:spPr>
          <a:xfrm>
            <a:off x="2474043" y="14565534"/>
            <a:ext cx="10327557" cy="70788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Soil N x soil moisture interaction shows stronger soil N effect on </a:t>
            </a:r>
            <a:r>
              <a:rPr lang="el-G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χ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0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mass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20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in drier environments</a:t>
            </a:r>
          </a:p>
        </p:txBody>
      </p:sp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7CB2E0DE-F1AC-F490-E4A3-687D86C9CB28}"/>
              </a:ext>
            </a:extLst>
          </p:cNvPr>
          <p:cNvCxnSpPr>
            <a:cxnSpLocks/>
          </p:cNvCxnSpPr>
          <p:nvPr/>
        </p:nvCxnSpPr>
        <p:spPr>
          <a:xfrm flipV="1">
            <a:off x="4200517" y="10846382"/>
            <a:ext cx="4795974" cy="1489260"/>
          </a:xfrm>
          <a:prstGeom prst="bentConnector4">
            <a:avLst>
              <a:gd name="adj1" fmla="val -22783"/>
              <a:gd name="adj2" fmla="val 133156"/>
            </a:avLst>
          </a:prstGeom>
          <a:ln w="3213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Elbow Connector 87">
            <a:extLst>
              <a:ext uri="{FF2B5EF4-FFF2-40B4-BE49-F238E27FC236}">
                <a16:creationId xmlns:a16="http://schemas.microsoft.com/office/drawing/2014/main" id="{A1EC0444-C239-C500-9A1F-115FA0347893}"/>
              </a:ext>
            </a:extLst>
          </p:cNvPr>
          <p:cNvCxnSpPr>
            <a:endCxn id="19" idx="2"/>
          </p:cNvCxnSpPr>
          <p:nvPr/>
        </p:nvCxnSpPr>
        <p:spPr>
          <a:xfrm>
            <a:off x="3823724" y="11048508"/>
            <a:ext cx="5712263" cy="2776395"/>
          </a:xfrm>
          <a:prstGeom prst="bentConnector4">
            <a:avLst>
              <a:gd name="adj1" fmla="val -7987"/>
              <a:gd name="adj2" fmla="val 118938"/>
            </a:avLst>
          </a:prstGeom>
          <a:ln w="54736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Elbow Connector 149">
            <a:extLst>
              <a:ext uri="{FF2B5EF4-FFF2-40B4-BE49-F238E27FC236}">
                <a16:creationId xmlns:a16="http://schemas.microsoft.com/office/drawing/2014/main" id="{C780F87F-4C38-9223-4A90-EC9B6420A1F1}"/>
              </a:ext>
            </a:extLst>
          </p:cNvPr>
          <p:cNvCxnSpPr>
            <a:cxnSpLocks/>
          </p:cNvCxnSpPr>
          <p:nvPr/>
        </p:nvCxnSpPr>
        <p:spPr>
          <a:xfrm rot="10800000" flipH="1">
            <a:off x="3681669" y="10846381"/>
            <a:ext cx="5845112" cy="2747461"/>
          </a:xfrm>
          <a:prstGeom prst="bentConnector4">
            <a:avLst>
              <a:gd name="adj1" fmla="val -14199"/>
              <a:gd name="adj2" fmla="val 130947"/>
            </a:avLst>
          </a:prstGeom>
          <a:ln w="22009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7239D801-9D36-9E6C-4A81-BE4BE53E3D01}"/>
              </a:ext>
            </a:extLst>
          </p:cNvPr>
          <p:cNvSpPr/>
          <p:nvPr/>
        </p:nvSpPr>
        <p:spPr>
          <a:xfrm>
            <a:off x="3823724" y="10656412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Soil moisture</a:t>
            </a:r>
            <a:endParaRPr lang="en-US" sz="3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03E2C51-302C-32CF-291D-951DCB512A51}"/>
              </a:ext>
            </a:extLst>
          </p:cNvPr>
          <p:cNvSpPr/>
          <p:nvPr/>
        </p:nvSpPr>
        <p:spPr>
          <a:xfrm>
            <a:off x="3690875" y="13155231"/>
            <a:ext cx="2011416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Soil N</a:t>
            </a:r>
            <a:endParaRPr lang="en-US" sz="3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95B7652-666B-B498-93E5-05DD07500EC7}"/>
              </a:ext>
            </a:extLst>
          </p:cNvPr>
          <p:cNvSpPr/>
          <p:nvPr/>
        </p:nvSpPr>
        <p:spPr>
          <a:xfrm>
            <a:off x="3830314" y="11877579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VPD</a:t>
            </a:r>
            <a:r>
              <a:rPr lang="en-US" sz="3000" b="1" i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90</a:t>
            </a:r>
            <a:endParaRPr lang="en-US" sz="3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Elbow Connector 3">
            <a:extLst>
              <a:ext uri="{FF2B5EF4-FFF2-40B4-BE49-F238E27FC236}">
                <a16:creationId xmlns:a16="http://schemas.microsoft.com/office/drawing/2014/main" id="{970FCB91-0000-8060-1474-ACD3A88A6E60}"/>
              </a:ext>
            </a:extLst>
          </p:cNvPr>
          <p:cNvCxnSpPr>
            <a:cxnSpLocks/>
          </p:cNvCxnSpPr>
          <p:nvPr/>
        </p:nvCxnSpPr>
        <p:spPr>
          <a:xfrm flipV="1">
            <a:off x="17244723" y="10860181"/>
            <a:ext cx="3902273" cy="1452890"/>
          </a:xfrm>
          <a:prstGeom prst="bentConnector4">
            <a:avLst>
              <a:gd name="adj1" fmla="val -49419"/>
              <a:gd name="adj2" fmla="val 132098"/>
            </a:avLst>
          </a:prstGeom>
          <a:ln w="77724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675E3003-FDC1-F831-B4AA-CE057E90EBB7}"/>
              </a:ext>
            </a:extLst>
          </p:cNvPr>
          <p:cNvCxnSpPr>
            <a:cxnSpLocks/>
          </p:cNvCxnSpPr>
          <p:nvPr/>
        </p:nvCxnSpPr>
        <p:spPr>
          <a:xfrm rot="10800000" flipH="1">
            <a:off x="15894005" y="10844890"/>
            <a:ext cx="5845112" cy="2747461"/>
          </a:xfrm>
          <a:prstGeom prst="bentConnector4">
            <a:avLst>
              <a:gd name="adj1" fmla="val -14199"/>
              <a:gd name="adj2" fmla="val 130947"/>
            </a:avLst>
          </a:prstGeom>
          <a:ln w="6350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Oval 75">
            <a:extLst>
              <a:ext uri="{FF2B5EF4-FFF2-40B4-BE49-F238E27FC236}">
                <a16:creationId xmlns:a16="http://schemas.microsoft.com/office/drawing/2014/main" id="{5A887285-40AE-A170-5A0F-BC12B1593437}"/>
              </a:ext>
            </a:extLst>
          </p:cNvPr>
          <p:cNvSpPr>
            <a:spLocks noChangeAspect="1"/>
          </p:cNvSpPr>
          <p:nvPr/>
        </p:nvSpPr>
        <p:spPr>
          <a:xfrm>
            <a:off x="15919283" y="12201137"/>
            <a:ext cx="223867" cy="223867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44E8AA1-FF2A-CC5C-227E-6588E4895EAC}"/>
              </a:ext>
            </a:extLst>
          </p:cNvPr>
          <p:cNvSpPr/>
          <p:nvPr/>
        </p:nvSpPr>
        <p:spPr>
          <a:xfrm>
            <a:off x="16030387" y="11874459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VPD</a:t>
            </a:r>
            <a:r>
              <a:rPr lang="en-US" sz="3000" b="1" i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60</a:t>
            </a:r>
            <a:endParaRPr lang="en-US" sz="3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1" name="Elbow Connector 80">
            <a:extLst>
              <a:ext uri="{FF2B5EF4-FFF2-40B4-BE49-F238E27FC236}">
                <a16:creationId xmlns:a16="http://schemas.microsoft.com/office/drawing/2014/main" id="{6D324235-22F3-7035-CC3F-6E5E24E4FE6E}"/>
              </a:ext>
            </a:extLst>
          </p:cNvPr>
          <p:cNvCxnSpPr/>
          <p:nvPr/>
        </p:nvCxnSpPr>
        <p:spPr>
          <a:xfrm>
            <a:off x="16007520" y="11095023"/>
            <a:ext cx="5712263" cy="2776395"/>
          </a:xfrm>
          <a:prstGeom prst="bentConnector4">
            <a:avLst>
              <a:gd name="adj1" fmla="val -7987"/>
              <a:gd name="adj2" fmla="val 118938"/>
            </a:avLst>
          </a:prstGeom>
          <a:ln w="63753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C02C0295-6750-5A0E-AC7C-D230A5E75304}"/>
              </a:ext>
            </a:extLst>
          </p:cNvPr>
          <p:cNvSpPr/>
          <p:nvPr/>
        </p:nvSpPr>
        <p:spPr>
          <a:xfrm>
            <a:off x="16039795" y="10670211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Soil moisture</a:t>
            </a:r>
            <a:endParaRPr lang="en-US" sz="3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B3E0B97-B06D-1A73-7A8F-1429E451D801}"/>
              </a:ext>
            </a:extLst>
          </p:cNvPr>
          <p:cNvSpPr txBox="1"/>
          <p:nvPr/>
        </p:nvSpPr>
        <p:spPr>
          <a:xfrm>
            <a:off x="14786559" y="14552222"/>
            <a:ext cx="10327557" cy="70788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Soil N x soil moisture interaction shows stronger soil N effect on </a:t>
            </a:r>
            <a:r>
              <a:rPr lang="en-US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20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in drier environments</a:t>
            </a:r>
          </a:p>
        </p:txBody>
      </p:sp>
    </p:spTree>
    <p:extLst>
      <p:ext uri="{BB962C8B-B14F-4D97-AF65-F5344CB8AC3E}">
        <p14:creationId xmlns:p14="http://schemas.microsoft.com/office/powerpoint/2010/main" val="778307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A9C2443-9F06-361A-F1E2-850C897A123E}"/>
              </a:ext>
            </a:extLst>
          </p:cNvPr>
          <p:cNvSpPr/>
          <p:nvPr/>
        </p:nvSpPr>
        <p:spPr>
          <a:xfrm>
            <a:off x="18867628" y="7550945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Ν</a:t>
            </a:r>
            <a:r>
              <a:rPr lang="en-US" sz="30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3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915A7F-4D4C-6454-05F0-628D59A83830}"/>
              </a:ext>
            </a:extLst>
          </p:cNvPr>
          <p:cNvSpPr/>
          <p:nvPr/>
        </p:nvSpPr>
        <p:spPr>
          <a:xfrm>
            <a:off x="15010550" y="9585973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30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3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B354E3-DF94-6868-0B00-7F9D8014175C}"/>
              </a:ext>
            </a:extLst>
          </p:cNvPr>
          <p:cNvSpPr/>
          <p:nvPr/>
        </p:nvSpPr>
        <p:spPr>
          <a:xfrm>
            <a:off x="15010550" y="5515915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30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mass</a:t>
            </a:r>
            <a:endParaRPr lang="en-US" sz="3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390F6D-DEE4-E38C-675E-EA4D0FEFF6C2}"/>
              </a:ext>
            </a:extLst>
          </p:cNvPr>
          <p:cNvSpPr/>
          <p:nvPr/>
        </p:nvSpPr>
        <p:spPr>
          <a:xfrm>
            <a:off x="15010550" y="7550944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χ</a:t>
            </a:r>
            <a:endParaRPr lang="en-US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C7F66E-94FB-76F2-42F0-71D9C0AA32E1}"/>
              </a:ext>
            </a:extLst>
          </p:cNvPr>
          <p:cNvSpPr/>
          <p:nvPr/>
        </p:nvSpPr>
        <p:spPr>
          <a:xfrm>
            <a:off x="10791304" y="5515914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</a:t>
            </a:r>
            <a:r>
              <a:rPr lang="en-US" sz="3000" b="1" i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endParaRPr lang="en-US" sz="3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4E5A84-7B39-BCF0-E51A-27DB3BA2164C}"/>
              </a:ext>
            </a:extLst>
          </p:cNvPr>
          <p:cNvSpPr/>
          <p:nvPr/>
        </p:nvSpPr>
        <p:spPr>
          <a:xfrm>
            <a:off x="6742114" y="5362916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VPD</a:t>
            </a:r>
            <a:r>
              <a:rPr lang="en-US" sz="3000" b="1" i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90</a:t>
            </a:r>
            <a:endParaRPr lang="en-US" sz="3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58BFDD-A78F-2F99-21F7-83668D223A37}"/>
              </a:ext>
            </a:extLst>
          </p:cNvPr>
          <p:cNvSpPr/>
          <p:nvPr/>
        </p:nvSpPr>
        <p:spPr>
          <a:xfrm>
            <a:off x="10695295" y="9585973"/>
            <a:ext cx="2011416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Soil N</a:t>
            </a:r>
            <a:endParaRPr lang="en-US" sz="3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60B42971-4675-152B-EA8C-581CAF31050C}"/>
              </a:ext>
            </a:extLst>
          </p:cNvPr>
          <p:cNvCxnSpPr>
            <a:stCxn id="6" idx="3"/>
            <a:endCxn id="4" idx="0"/>
          </p:cNvCxnSpPr>
          <p:nvPr/>
        </p:nvCxnSpPr>
        <p:spPr>
          <a:xfrm>
            <a:off x="16829948" y="5954527"/>
            <a:ext cx="2947379" cy="159641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3C03B660-943C-0EFC-91B8-510FB4802B28}"/>
              </a:ext>
            </a:extLst>
          </p:cNvPr>
          <p:cNvCxnSpPr>
            <a:stCxn id="5" idx="3"/>
            <a:endCxn id="4" idx="2"/>
          </p:cNvCxnSpPr>
          <p:nvPr/>
        </p:nvCxnSpPr>
        <p:spPr>
          <a:xfrm flipV="1">
            <a:off x="16829948" y="8428168"/>
            <a:ext cx="2947379" cy="159641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8E22BA6-DBDE-4CE4-2F60-1A92D8218AA2}"/>
              </a:ext>
            </a:extLst>
          </p:cNvPr>
          <p:cNvCxnSpPr>
            <a:stCxn id="7" idx="2"/>
            <a:endCxn id="5" idx="0"/>
          </p:cNvCxnSpPr>
          <p:nvPr/>
        </p:nvCxnSpPr>
        <p:spPr>
          <a:xfrm>
            <a:off x="15920249" y="8428167"/>
            <a:ext cx="0" cy="1157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6B423AD-7F3D-6A03-97E7-2A0963836EA5}"/>
              </a:ext>
            </a:extLst>
          </p:cNvPr>
          <p:cNvCxnSpPr>
            <a:stCxn id="7" idx="0"/>
            <a:endCxn id="6" idx="2"/>
          </p:cNvCxnSpPr>
          <p:nvPr/>
        </p:nvCxnSpPr>
        <p:spPr>
          <a:xfrm flipV="1">
            <a:off x="15920249" y="6393138"/>
            <a:ext cx="0" cy="1157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22185483-9A4D-0977-0812-C46F3805DD98}"/>
              </a:ext>
            </a:extLst>
          </p:cNvPr>
          <p:cNvSpPr/>
          <p:nvPr/>
        </p:nvSpPr>
        <p:spPr>
          <a:xfrm>
            <a:off x="10695295" y="7550944"/>
            <a:ext cx="2011416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Soil N * SM</a:t>
            </a:r>
            <a:r>
              <a:rPr lang="en-US" sz="3000" b="1" i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endParaRPr lang="en-US" sz="3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9553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9591</TotalTime>
  <Words>629</Words>
  <Application>Microsoft Macintosh PowerPoint</Application>
  <PresentationFormat>Custom</PresentationFormat>
  <Paragraphs>281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Perkowski, Evan A</dc:creator>
  <cp:lastModifiedBy>Perkowski, Evan A</cp:lastModifiedBy>
  <cp:revision>84</cp:revision>
  <dcterms:created xsi:type="dcterms:W3CDTF">2022-10-19T19:59:54Z</dcterms:created>
  <dcterms:modified xsi:type="dcterms:W3CDTF">2026-07-10T20:54:03Z</dcterms:modified>
</cp:coreProperties>
</file>